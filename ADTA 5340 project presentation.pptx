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67" r:id="rId4"/>
    <p:sldId id="263" r:id="rId5"/>
    <p:sldId id="262" r:id="rId6"/>
    <p:sldId id="258" r:id="rId7"/>
    <p:sldId id="266" r:id="rId8"/>
    <p:sldId id="264" r:id="rId9"/>
    <p:sldId id="265" r:id="rId10"/>
    <p:sldId id="259" r:id="rId11"/>
    <p:sldId id="260" r:id="rId12"/>
    <p:sldId id="269" r:id="rId13"/>
    <p:sldId id="270"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59" d="100"/>
          <a:sy n="59" d="100"/>
        </p:scale>
        <p:origin x="964"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_rels/data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s>
</file>

<file path=ppt/diagrams/_rels/data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svg"/><Relationship Id="rId1" Type="http://schemas.openxmlformats.org/officeDocument/2006/relationships/image" Target="../media/image8.png"/><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1.svg"/></Relationships>
</file>

<file path=ppt/diagrams/_rels/data5.xml.rels><?xml version="1.0" encoding="UTF-8" standalone="yes"?>
<Relationships xmlns="http://schemas.openxmlformats.org/package/2006/relationships"><Relationship Id="rId8" Type="http://schemas.openxmlformats.org/officeDocument/2006/relationships/image" Target="../media/image21.svg"/><Relationship Id="rId13" Type="http://schemas.openxmlformats.org/officeDocument/2006/relationships/image" Target="../media/image26.png"/><Relationship Id="rId3" Type="http://schemas.openxmlformats.org/officeDocument/2006/relationships/image" Target="../media/image16.png"/><Relationship Id="rId7" Type="http://schemas.openxmlformats.org/officeDocument/2006/relationships/image" Target="../media/image20.png"/><Relationship Id="rId12" Type="http://schemas.openxmlformats.org/officeDocument/2006/relationships/image" Target="../media/image25.svg"/><Relationship Id="rId2" Type="http://schemas.openxmlformats.org/officeDocument/2006/relationships/image" Target="../media/image15.svg"/><Relationship Id="rId16" Type="http://schemas.openxmlformats.org/officeDocument/2006/relationships/image" Target="../media/image29.svg"/><Relationship Id="rId1" Type="http://schemas.openxmlformats.org/officeDocument/2006/relationships/image" Target="../media/image14.png"/><Relationship Id="rId6" Type="http://schemas.openxmlformats.org/officeDocument/2006/relationships/image" Target="../media/image19.svg"/><Relationship Id="rId11" Type="http://schemas.openxmlformats.org/officeDocument/2006/relationships/image" Target="../media/image24.png"/><Relationship Id="rId5" Type="http://schemas.openxmlformats.org/officeDocument/2006/relationships/image" Target="../media/image18.png"/><Relationship Id="rId15" Type="http://schemas.openxmlformats.org/officeDocument/2006/relationships/image" Target="../media/image28.png"/><Relationship Id="rId10" Type="http://schemas.openxmlformats.org/officeDocument/2006/relationships/image" Target="../media/image23.svg"/><Relationship Id="rId4" Type="http://schemas.openxmlformats.org/officeDocument/2006/relationships/image" Target="../media/image17.svg"/><Relationship Id="rId9" Type="http://schemas.openxmlformats.org/officeDocument/2006/relationships/image" Target="../media/image22.png"/><Relationship Id="rId14" Type="http://schemas.openxmlformats.org/officeDocument/2006/relationships/image" Target="../media/image27.svg"/></Relationships>
</file>

<file path=ppt/diagrams/_rels/drawing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s>
</file>

<file path=ppt/diagrams/_rels/drawing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svg"/><Relationship Id="rId1" Type="http://schemas.openxmlformats.org/officeDocument/2006/relationships/image" Target="../media/image8.png"/><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1.svg"/></Relationships>
</file>

<file path=ppt/diagrams/_rels/drawing5.xml.rels><?xml version="1.0" encoding="UTF-8" standalone="yes"?>
<Relationships xmlns="http://schemas.openxmlformats.org/package/2006/relationships"><Relationship Id="rId8" Type="http://schemas.openxmlformats.org/officeDocument/2006/relationships/image" Target="../media/image21.svg"/><Relationship Id="rId13" Type="http://schemas.openxmlformats.org/officeDocument/2006/relationships/image" Target="../media/image26.png"/><Relationship Id="rId3" Type="http://schemas.openxmlformats.org/officeDocument/2006/relationships/image" Target="../media/image16.png"/><Relationship Id="rId7" Type="http://schemas.openxmlformats.org/officeDocument/2006/relationships/image" Target="../media/image20.png"/><Relationship Id="rId12" Type="http://schemas.openxmlformats.org/officeDocument/2006/relationships/image" Target="../media/image25.svg"/><Relationship Id="rId2" Type="http://schemas.openxmlformats.org/officeDocument/2006/relationships/image" Target="../media/image15.svg"/><Relationship Id="rId16" Type="http://schemas.openxmlformats.org/officeDocument/2006/relationships/image" Target="../media/image29.svg"/><Relationship Id="rId1" Type="http://schemas.openxmlformats.org/officeDocument/2006/relationships/image" Target="../media/image14.png"/><Relationship Id="rId6" Type="http://schemas.openxmlformats.org/officeDocument/2006/relationships/image" Target="../media/image19.svg"/><Relationship Id="rId11" Type="http://schemas.openxmlformats.org/officeDocument/2006/relationships/image" Target="../media/image24.png"/><Relationship Id="rId5" Type="http://schemas.openxmlformats.org/officeDocument/2006/relationships/image" Target="../media/image18.png"/><Relationship Id="rId15" Type="http://schemas.openxmlformats.org/officeDocument/2006/relationships/image" Target="../media/image28.png"/><Relationship Id="rId10" Type="http://schemas.openxmlformats.org/officeDocument/2006/relationships/image" Target="../media/image23.svg"/><Relationship Id="rId4" Type="http://schemas.openxmlformats.org/officeDocument/2006/relationships/image" Target="../media/image17.svg"/><Relationship Id="rId9" Type="http://schemas.openxmlformats.org/officeDocument/2006/relationships/image" Target="../media/image22.png"/><Relationship Id="rId14" Type="http://schemas.openxmlformats.org/officeDocument/2006/relationships/image" Target="../media/image27.svg"/></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581F8A1-2E2E-4019-AF69-57F77AE41A56}" type="doc">
      <dgm:prSet loTypeId="urn:microsoft.com/office/officeart/2016/7/layout/BasicLinearProcessNumbered" loCatId="process" qsTypeId="urn:microsoft.com/office/officeart/2005/8/quickstyle/simple1" qsCatId="simple" csTypeId="urn:microsoft.com/office/officeart/2005/8/colors/colorful2" csCatId="colorful" phldr="1"/>
      <dgm:spPr/>
      <dgm:t>
        <a:bodyPr/>
        <a:lstStyle/>
        <a:p>
          <a:endParaRPr lang="en-US"/>
        </a:p>
      </dgm:t>
    </dgm:pt>
    <dgm:pt modelId="{053116AB-C8B6-4901-AFC0-D2A5C7915184}">
      <dgm:prSet/>
      <dgm:spPr/>
      <dgm:t>
        <a:bodyPr/>
        <a:lstStyle/>
        <a:p>
          <a:pPr algn="just"/>
          <a:r>
            <a:rPr lang="en-US" dirty="0">
              <a:latin typeface="Times New Roman" panose="02020603050405020304" pitchFamily="18" charset="0"/>
              <a:cs typeface="Times New Roman" panose="02020603050405020304" pitchFamily="18" charset="0"/>
            </a:rPr>
            <a:t>The objective is to predict the daily air quality levels in a area in Los angels county based on past pm2.5 pollution data and weather information.</a:t>
          </a:r>
        </a:p>
      </dgm:t>
    </dgm:pt>
    <dgm:pt modelId="{32BFC556-A443-4330-B123-063BBFEBF01D}" type="parTrans" cxnId="{959CD47A-59C5-4DE6-8DFD-A580455C2F2A}">
      <dgm:prSet/>
      <dgm:spPr/>
      <dgm:t>
        <a:bodyPr/>
        <a:lstStyle/>
        <a:p>
          <a:endParaRPr lang="en-US"/>
        </a:p>
      </dgm:t>
    </dgm:pt>
    <dgm:pt modelId="{15093708-3E5F-4E81-B8F5-BDC922641DB0}" type="sibTrans" cxnId="{959CD47A-59C5-4DE6-8DFD-A580455C2F2A}">
      <dgm:prSet phldrT="1"/>
      <dgm:spPr/>
      <dgm:t>
        <a:bodyPr/>
        <a:lstStyle/>
        <a:p>
          <a:r>
            <a:rPr lang="en-US"/>
            <a:t>1</a:t>
          </a:r>
        </a:p>
      </dgm:t>
    </dgm:pt>
    <dgm:pt modelId="{4ED02A83-9B52-4A30-9C40-DE818C31BF38}">
      <dgm:prSet/>
      <dgm:spPr/>
      <dgm:t>
        <a:bodyPr/>
        <a:lstStyle/>
        <a:p>
          <a:pPr algn="just"/>
          <a:r>
            <a:rPr lang="en-US" dirty="0">
              <a:latin typeface="Times New Roman" panose="02020603050405020304" pitchFamily="18" charset="0"/>
              <a:cs typeface="Times New Roman" panose="02020603050405020304" pitchFamily="18" charset="0"/>
            </a:rPr>
            <a:t>Need for a more rapid and more scalable approach for forecasting than the traditional methods.</a:t>
          </a:r>
        </a:p>
      </dgm:t>
    </dgm:pt>
    <dgm:pt modelId="{16C2BD5C-14B6-459E-BB0C-2367FD178491}" type="parTrans" cxnId="{26DB0454-0884-450A-AC77-44F203A5BB0A}">
      <dgm:prSet/>
      <dgm:spPr/>
      <dgm:t>
        <a:bodyPr/>
        <a:lstStyle/>
        <a:p>
          <a:endParaRPr lang="en-US"/>
        </a:p>
      </dgm:t>
    </dgm:pt>
    <dgm:pt modelId="{D5038558-C817-4C1F-A755-384C37436933}" type="sibTrans" cxnId="{26DB0454-0884-450A-AC77-44F203A5BB0A}">
      <dgm:prSet phldrT="2"/>
      <dgm:spPr/>
      <dgm:t>
        <a:bodyPr/>
        <a:lstStyle/>
        <a:p>
          <a:r>
            <a:rPr lang="en-US"/>
            <a:t>2</a:t>
          </a:r>
        </a:p>
      </dgm:t>
    </dgm:pt>
    <dgm:pt modelId="{C7581CA1-7AAD-41DB-828E-86AA056025E3}">
      <dgm:prSet/>
      <dgm:spPr/>
      <dgm:t>
        <a:bodyPr/>
        <a:lstStyle/>
        <a:p>
          <a:pPr algn="ctr"/>
          <a:r>
            <a:rPr lang="en-US" dirty="0">
              <a:latin typeface="Times New Roman" panose="02020603050405020304" pitchFamily="18" charset="0"/>
              <a:cs typeface="Times New Roman" panose="02020603050405020304" pitchFamily="18" charset="0"/>
            </a:rPr>
            <a:t>Accurate classification will result in timely public health alerts and better urban environmental management.</a:t>
          </a:r>
        </a:p>
      </dgm:t>
    </dgm:pt>
    <dgm:pt modelId="{DA212056-68E4-4C13-8646-02DA4425FE3A}" type="parTrans" cxnId="{5F31F36A-D5DB-4F40-9E72-9C647587EDE7}">
      <dgm:prSet/>
      <dgm:spPr/>
      <dgm:t>
        <a:bodyPr/>
        <a:lstStyle/>
        <a:p>
          <a:endParaRPr lang="en-US"/>
        </a:p>
      </dgm:t>
    </dgm:pt>
    <dgm:pt modelId="{997BEE01-79CD-44B9-8FC2-52F5C50712AB}" type="sibTrans" cxnId="{5F31F36A-D5DB-4F40-9E72-9C647587EDE7}">
      <dgm:prSet phldrT="3"/>
      <dgm:spPr/>
      <dgm:t>
        <a:bodyPr/>
        <a:lstStyle/>
        <a:p>
          <a:r>
            <a:rPr lang="en-US"/>
            <a:t>3</a:t>
          </a:r>
        </a:p>
      </dgm:t>
    </dgm:pt>
    <dgm:pt modelId="{C448E237-80B7-4957-820C-DC831AD058EC}" type="pres">
      <dgm:prSet presAssocID="{B581F8A1-2E2E-4019-AF69-57F77AE41A56}" presName="Name0" presStyleCnt="0">
        <dgm:presLayoutVars>
          <dgm:animLvl val="lvl"/>
          <dgm:resizeHandles val="exact"/>
        </dgm:presLayoutVars>
      </dgm:prSet>
      <dgm:spPr/>
    </dgm:pt>
    <dgm:pt modelId="{9DAA25E4-A11F-426E-B20B-08571E08FC95}" type="pres">
      <dgm:prSet presAssocID="{053116AB-C8B6-4901-AFC0-D2A5C7915184}" presName="compositeNode" presStyleCnt="0">
        <dgm:presLayoutVars>
          <dgm:bulletEnabled val="1"/>
        </dgm:presLayoutVars>
      </dgm:prSet>
      <dgm:spPr/>
    </dgm:pt>
    <dgm:pt modelId="{83709EDA-162A-48EA-9177-C15BBA8F5268}" type="pres">
      <dgm:prSet presAssocID="{053116AB-C8B6-4901-AFC0-D2A5C7915184}" presName="bgRect" presStyleLbl="bgAccFollowNode1" presStyleIdx="0" presStyleCnt="3" custLinFactNeighborX="2535" custLinFactNeighborY="438"/>
      <dgm:spPr/>
    </dgm:pt>
    <dgm:pt modelId="{7CFDFBEC-1EB0-484A-A7EA-8278A15568C5}" type="pres">
      <dgm:prSet presAssocID="{15093708-3E5F-4E81-B8F5-BDC922641DB0}" presName="sibTransNodeCircle" presStyleLbl="alignNode1" presStyleIdx="0" presStyleCnt="6">
        <dgm:presLayoutVars>
          <dgm:chMax val="0"/>
          <dgm:bulletEnabled/>
        </dgm:presLayoutVars>
      </dgm:prSet>
      <dgm:spPr/>
    </dgm:pt>
    <dgm:pt modelId="{0619881F-C673-40EA-8C25-4F14CBA7EA6C}" type="pres">
      <dgm:prSet presAssocID="{053116AB-C8B6-4901-AFC0-D2A5C7915184}" presName="bottomLine" presStyleLbl="alignNode1" presStyleIdx="1" presStyleCnt="6">
        <dgm:presLayoutVars/>
      </dgm:prSet>
      <dgm:spPr/>
    </dgm:pt>
    <dgm:pt modelId="{DE437C37-61F9-4DCB-B5B6-B6DE86CB8333}" type="pres">
      <dgm:prSet presAssocID="{053116AB-C8B6-4901-AFC0-D2A5C7915184}" presName="nodeText" presStyleLbl="bgAccFollowNode1" presStyleIdx="0" presStyleCnt="3">
        <dgm:presLayoutVars>
          <dgm:bulletEnabled val="1"/>
        </dgm:presLayoutVars>
      </dgm:prSet>
      <dgm:spPr/>
    </dgm:pt>
    <dgm:pt modelId="{38AC55FC-B6D3-448D-A19D-1315F1C7C126}" type="pres">
      <dgm:prSet presAssocID="{15093708-3E5F-4E81-B8F5-BDC922641DB0}" presName="sibTrans" presStyleCnt="0"/>
      <dgm:spPr/>
    </dgm:pt>
    <dgm:pt modelId="{A380A9BC-3010-4D5C-929E-3D3A38C589D7}" type="pres">
      <dgm:prSet presAssocID="{4ED02A83-9B52-4A30-9C40-DE818C31BF38}" presName="compositeNode" presStyleCnt="0">
        <dgm:presLayoutVars>
          <dgm:bulletEnabled val="1"/>
        </dgm:presLayoutVars>
      </dgm:prSet>
      <dgm:spPr/>
    </dgm:pt>
    <dgm:pt modelId="{D081D01C-9741-4A94-86FE-137F00BD516C}" type="pres">
      <dgm:prSet presAssocID="{4ED02A83-9B52-4A30-9C40-DE818C31BF38}" presName="bgRect" presStyleLbl="bgAccFollowNode1" presStyleIdx="1" presStyleCnt="3"/>
      <dgm:spPr/>
    </dgm:pt>
    <dgm:pt modelId="{CE841E01-8504-45BA-BF7D-9D8B40DC5C85}" type="pres">
      <dgm:prSet presAssocID="{D5038558-C817-4C1F-A755-384C37436933}" presName="sibTransNodeCircle" presStyleLbl="alignNode1" presStyleIdx="2" presStyleCnt="6">
        <dgm:presLayoutVars>
          <dgm:chMax val="0"/>
          <dgm:bulletEnabled/>
        </dgm:presLayoutVars>
      </dgm:prSet>
      <dgm:spPr/>
    </dgm:pt>
    <dgm:pt modelId="{DFF9CE6A-77B2-4F0F-A534-25F0A159565B}" type="pres">
      <dgm:prSet presAssocID="{4ED02A83-9B52-4A30-9C40-DE818C31BF38}" presName="bottomLine" presStyleLbl="alignNode1" presStyleIdx="3" presStyleCnt="6">
        <dgm:presLayoutVars/>
      </dgm:prSet>
      <dgm:spPr/>
    </dgm:pt>
    <dgm:pt modelId="{5EE2B7F4-E84C-498B-94A9-6099F72A743E}" type="pres">
      <dgm:prSet presAssocID="{4ED02A83-9B52-4A30-9C40-DE818C31BF38}" presName="nodeText" presStyleLbl="bgAccFollowNode1" presStyleIdx="1" presStyleCnt="3">
        <dgm:presLayoutVars>
          <dgm:bulletEnabled val="1"/>
        </dgm:presLayoutVars>
      </dgm:prSet>
      <dgm:spPr/>
    </dgm:pt>
    <dgm:pt modelId="{43D55F21-C062-4F17-A9E5-53C105BD102B}" type="pres">
      <dgm:prSet presAssocID="{D5038558-C817-4C1F-A755-384C37436933}" presName="sibTrans" presStyleCnt="0"/>
      <dgm:spPr/>
    </dgm:pt>
    <dgm:pt modelId="{0C1DED9C-B048-4275-AD0A-03529F730B4F}" type="pres">
      <dgm:prSet presAssocID="{C7581CA1-7AAD-41DB-828E-86AA056025E3}" presName="compositeNode" presStyleCnt="0">
        <dgm:presLayoutVars>
          <dgm:bulletEnabled val="1"/>
        </dgm:presLayoutVars>
      </dgm:prSet>
      <dgm:spPr/>
    </dgm:pt>
    <dgm:pt modelId="{966F8282-BA75-4BAC-B8E5-777FA09393AA}" type="pres">
      <dgm:prSet presAssocID="{C7581CA1-7AAD-41DB-828E-86AA056025E3}" presName="bgRect" presStyleLbl="bgAccFollowNode1" presStyleIdx="2" presStyleCnt="3"/>
      <dgm:spPr/>
    </dgm:pt>
    <dgm:pt modelId="{D5A767A7-30E5-4B11-909B-0404D4D171EC}" type="pres">
      <dgm:prSet presAssocID="{997BEE01-79CD-44B9-8FC2-52F5C50712AB}" presName="sibTransNodeCircle" presStyleLbl="alignNode1" presStyleIdx="4" presStyleCnt="6">
        <dgm:presLayoutVars>
          <dgm:chMax val="0"/>
          <dgm:bulletEnabled/>
        </dgm:presLayoutVars>
      </dgm:prSet>
      <dgm:spPr/>
    </dgm:pt>
    <dgm:pt modelId="{8F6EC730-D02B-42CF-8DB1-C5B608821951}" type="pres">
      <dgm:prSet presAssocID="{C7581CA1-7AAD-41DB-828E-86AA056025E3}" presName="bottomLine" presStyleLbl="alignNode1" presStyleIdx="5" presStyleCnt="6">
        <dgm:presLayoutVars/>
      </dgm:prSet>
      <dgm:spPr/>
    </dgm:pt>
    <dgm:pt modelId="{31845D12-634C-4F85-A26D-FD70CBCBD836}" type="pres">
      <dgm:prSet presAssocID="{C7581CA1-7AAD-41DB-828E-86AA056025E3}" presName="nodeText" presStyleLbl="bgAccFollowNode1" presStyleIdx="2" presStyleCnt="3">
        <dgm:presLayoutVars>
          <dgm:bulletEnabled val="1"/>
        </dgm:presLayoutVars>
      </dgm:prSet>
      <dgm:spPr/>
    </dgm:pt>
  </dgm:ptLst>
  <dgm:cxnLst>
    <dgm:cxn modelId="{75FDFD2F-1D7C-4A55-9780-F10DDD7AED05}" type="presOf" srcId="{C7581CA1-7AAD-41DB-828E-86AA056025E3}" destId="{31845D12-634C-4F85-A26D-FD70CBCBD836}" srcOrd="1" destOrd="0" presId="urn:microsoft.com/office/officeart/2016/7/layout/BasicLinearProcessNumbered"/>
    <dgm:cxn modelId="{9C855865-EEB2-452F-8D89-DD341CDCB672}" type="presOf" srcId="{C7581CA1-7AAD-41DB-828E-86AA056025E3}" destId="{966F8282-BA75-4BAC-B8E5-777FA09393AA}" srcOrd="0" destOrd="0" presId="urn:microsoft.com/office/officeart/2016/7/layout/BasicLinearProcessNumbered"/>
    <dgm:cxn modelId="{980EAD45-5396-426A-8716-CF830A98F0B9}" type="presOf" srcId="{15093708-3E5F-4E81-B8F5-BDC922641DB0}" destId="{7CFDFBEC-1EB0-484A-A7EA-8278A15568C5}" srcOrd="0" destOrd="0" presId="urn:microsoft.com/office/officeart/2016/7/layout/BasicLinearProcessNumbered"/>
    <dgm:cxn modelId="{5F31F36A-D5DB-4F40-9E72-9C647587EDE7}" srcId="{B581F8A1-2E2E-4019-AF69-57F77AE41A56}" destId="{C7581CA1-7AAD-41DB-828E-86AA056025E3}" srcOrd="2" destOrd="0" parTransId="{DA212056-68E4-4C13-8646-02DA4425FE3A}" sibTransId="{997BEE01-79CD-44B9-8FC2-52F5C50712AB}"/>
    <dgm:cxn modelId="{26DB0454-0884-450A-AC77-44F203A5BB0A}" srcId="{B581F8A1-2E2E-4019-AF69-57F77AE41A56}" destId="{4ED02A83-9B52-4A30-9C40-DE818C31BF38}" srcOrd="1" destOrd="0" parTransId="{16C2BD5C-14B6-459E-BB0C-2367FD178491}" sibTransId="{D5038558-C817-4C1F-A755-384C37436933}"/>
    <dgm:cxn modelId="{8C30AB79-B46B-4D9C-96EC-EC0B5A066353}" type="presOf" srcId="{4ED02A83-9B52-4A30-9C40-DE818C31BF38}" destId="{D081D01C-9741-4A94-86FE-137F00BD516C}" srcOrd="0" destOrd="0" presId="urn:microsoft.com/office/officeart/2016/7/layout/BasicLinearProcessNumbered"/>
    <dgm:cxn modelId="{959CD47A-59C5-4DE6-8DFD-A580455C2F2A}" srcId="{B581F8A1-2E2E-4019-AF69-57F77AE41A56}" destId="{053116AB-C8B6-4901-AFC0-D2A5C7915184}" srcOrd="0" destOrd="0" parTransId="{32BFC556-A443-4330-B123-063BBFEBF01D}" sibTransId="{15093708-3E5F-4E81-B8F5-BDC922641DB0}"/>
    <dgm:cxn modelId="{9F785A85-C227-4200-BF7E-9A58121E36CC}" type="presOf" srcId="{4ED02A83-9B52-4A30-9C40-DE818C31BF38}" destId="{5EE2B7F4-E84C-498B-94A9-6099F72A743E}" srcOrd="1" destOrd="0" presId="urn:microsoft.com/office/officeart/2016/7/layout/BasicLinearProcessNumbered"/>
    <dgm:cxn modelId="{7E9A9285-B34A-4D16-B143-39E9CF794BC6}" type="presOf" srcId="{053116AB-C8B6-4901-AFC0-D2A5C7915184}" destId="{DE437C37-61F9-4DCB-B5B6-B6DE86CB8333}" srcOrd="1" destOrd="0" presId="urn:microsoft.com/office/officeart/2016/7/layout/BasicLinearProcessNumbered"/>
    <dgm:cxn modelId="{23117DA3-AAD1-4C1C-8649-0462F4AA42FA}" type="presOf" srcId="{997BEE01-79CD-44B9-8FC2-52F5C50712AB}" destId="{D5A767A7-30E5-4B11-909B-0404D4D171EC}" srcOrd="0" destOrd="0" presId="urn:microsoft.com/office/officeart/2016/7/layout/BasicLinearProcessNumbered"/>
    <dgm:cxn modelId="{FD4900EF-4C05-4C0B-B5E2-2B652031C1E0}" type="presOf" srcId="{B581F8A1-2E2E-4019-AF69-57F77AE41A56}" destId="{C448E237-80B7-4957-820C-DC831AD058EC}" srcOrd="0" destOrd="0" presId="urn:microsoft.com/office/officeart/2016/7/layout/BasicLinearProcessNumbered"/>
    <dgm:cxn modelId="{4AEE61F6-6768-40F3-9E9F-DE8AF11D5528}" type="presOf" srcId="{D5038558-C817-4C1F-A755-384C37436933}" destId="{CE841E01-8504-45BA-BF7D-9D8B40DC5C85}" srcOrd="0" destOrd="0" presId="urn:microsoft.com/office/officeart/2016/7/layout/BasicLinearProcessNumbered"/>
    <dgm:cxn modelId="{63DA41FC-49E8-42AB-AD2C-6FC3BB8EA85C}" type="presOf" srcId="{053116AB-C8B6-4901-AFC0-D2A5C7915184}" destId="{83709EDA-162A-48EA-9177-C15BBA8F5268}" srcOrd="0" destOrd="0" presId="urn:microsoft.com/office/officeart/2016/7/layout/BasicLinearProcessNumbered"/>
    <dgm:cxn modelId="{3F1BAF7F-7E64-4278-8584-017BD1BE1E52}" type="presParOf" srcId="{C448E237-80B7-4957-820C-DC831AD058EC}" destId="{9DAA25E4-A11F-426E-B20B-08571E08FC95}" srcOrd="0" destOrd="0" presId="urn:microsoft.com/office/officeart/2016/7/layout/BasicLinearProcessNumbered"/>
    <dgm:cxn modelId="{427B5BAC-9392-4A47-83B2-BF585ACDA5DE}" type="presParOf" srcId="{9DAA25E4-A11F-426E-B20B-08571E08FC95}" destId="{83709EDA-162A-48EA-9177-C15BBA8F5268}" srcOrd="0" destOrd="0" presId="urn:microsoft.com/office/officeart/2016/7/layout/BasicLinearProcessNumbered"/>
    <dgm:cxn modelId="{E4DB9D3E-C448-4C7F-9590-CB10BF61F468}" type="presParOf" srcId="{9DAA25E4-A11F-426E-B20B-08571E08FC95}" destId="{7CFDFBEC-1EB0-484A-A7EA-8278A15568C5}" srcOrd="1" destOrd="0" presId="urn:microsoft.com/office/officeart/2016/7/layout/BasicLinearProcessNumbered"/>
    <dgm:cxn modelId="{13643050-EB00-4F4F-BBB9-4C648C083382}" type="presParOf" srcId="{9DAA25E4-A11F-426E-B20B-08571E08FC95}" destId="{0619881F-C673-40EA-8C25-4F14CBA7EA6C}" srcOrd="2" destOrd="0" presId="urn:microsoft.com/office/officeart/2016/7/layout/BasicLinearProcessNumbered"/>
    <dgm:cxn modelId="{EA97D39B-48C8-466F-943A-80AF6789B592}" type="presParOf" srcId="{9DAA25E4-A11F-426E-B20B-08571E08FC95}" destId="{DE437C37-61F9-4DCB-B5B6-B6DE86CB8333}" srcOrd="3" destOrd="0" presId="urn:microsoft.com/office/officeart/2016/7/layout/BasicLinearProcessNumbered"/>
    <dgm:cxn modelId="{E9806A38-BA3C-45AF-9E74-56E2EF24030F}" type="presParOf" srcId="{C448E237-80B7-4957-820C-DC831AD058EC}" destId="{38AC55FC-B6D3-448D-A19D-1315F1C7C126}" srcOrd="1" destOrd="0" presId="urn:microsoft.com/office/officeart/2016/7/layout/BasicLinearProcessNumbered"/>
    <dgm:cxn modelId="{518F9F77-A238-4FF1-A826-E7994D9DAF6C}" type="presParOf" srcId="{C448E237-80B7-4957-820C-DC831AD058EC}" destId="{A380A9BC-3010-4D5C-929E-3D3A38C589D7}" srcOrd="2" destOrd="0" presId="urn:microsoft.com/office/officeart/2016/7/layout/BasicLinearProcessNumbered"/>
    <dgm:cxn modelId="{964795B1-1D2A-465D-9628-881658527631}" type="presParOf" srcId="{A380A9BC-3010-4D5C-929E-3D3A38C589D7}" destId="{D081D01C-9741-4A94-86FE-137F00BD516C}" srcOrd="0" destOrd="0" presId="urn:microsoft.com/office/officeart/2016/7/layout/BasicLinearProcessNumbered"/>
    <dgm:cxn modelId="{474E7347-99BA-4969-B1AB-B9ACE4D81B4B}" type="presParOf" srcId="{A380A9BC-3010-4D5C-929E-3D3A38C589D7}" destId="{CE841E01-8504-45BA-BF7D-9D8B40DC5C85}" srcOrd="1" destOrd="0" presId="urn:microsoft.com/office/officeart/2016/7/layout/BasicLinearProcessNumbered"/>
    <dgm:cxn modelId="{D7DDC633-D266-4A44-B569-619E9D4A39C2}" type="presParOf" srcId="{A380A9BC-3010-4D5C-929E-3D3A38C589D7}" destId="{DFF9CE6A-77B2-4F0F-A534-25F0A159565B}" srcOrd="2" destOrd="0" presId="urn:microsoft.com/office/officeart/2016/7/layout/BasicLinearProcessNumbered"/>
    <dgm:cxn modelId="{62F53FB2-2D4C-4A5E-B2C0-5633B8407BA3}" type="presParOf" srcId="{A380A9BC-3010-4D5C-929E-3D3A38C589D7}" destId="{5EE2B7F4-E84C-498B-94A9-6099F72A743E}" srcOrd="3" destOrd="0" presId="urn:microsoft.com/office/officeart/2016/7/layout/BasicLinearProcessNumbered"/>
    <dgm:cxn modelId="{B1332A41-8064-438C-878D-85E636075E88}" type="presParOf" srcId="{C448E237-80B7-4957-820C-DC831AD058EC}" destId="{43D55F21-C062-4F17-A9E5-53C105BD102B}" srcOrd="3" destOrd="0" presId="urn:microsoft.com/office/officeart/2016/7/layout/BasicLinearProcessNumbered"/>
    <dgm:cxn modelId="{03A23A3D-890F-4C95-88A7-B660D0D073F4}" type="presParOf" srcId="{C448E237-80B7-4957-820C-DC831AD058EC}" destId="{0C1DED9C-B048-4275-AD0A-03529F730B4F}" srcOrd="4" destOrd="0" presId="urn:microsoft.com/office/officeart/2016/7/layout/BasicLinearProcessNumbered"/>
    <dgm:cxn modelId="{265CE12C-D2BE-404C-A59A-A1D9CA04EE67}" type="presParOf" srcId="{0C1DED9C-B048-4275-AD0A-03529F730B4F}" destId="{966F8282-BA75-4BAC-B8E5-777FA09393AA}" srcOrd="0" destOrd="0" presId="urn:microsoft.com/office/officeart/2016/7/layout/BasicLinearProcessNumbered"/>
    <dgm:cxn modelId="{086D52D9-CA41-4F1D-AD31-4431E4C66F82}" type="presParOf" srcId="{0C1DED9C-B048-4275-AD0A-03529F730B4F}" destId="{D5A767A7-30E5-4B11-909B-0404D4D171EC}" srcOrd="1" destOrd="0" presId="urn:microsoft.com/office/officeart/2016/7/layout/BasicLinearProcessNumbered"/>
    <dgm:cxn modelId="{2064B813-856A-4198-AFC6-791BBF071EC1}" type="presParOf" srcId="{0C1DED9C-B048-4275-AD0A-03529F730B4F}" destId="{8F6EC730-D02B-42CF-8DB1-C5B608821951}" srcOrd="2" destOrd="0" presId="urn:microsoft.com/office/officeart/2016/7/layout/BasicLinearProcessNumbered"/>
    <dgm:cxn modelId="{9DD5FDFD-BA32-450F-B495-819B378499CA}" type="presParOf" srcId="{0C1DED9C-B048-4275-AD0A-03529F730B4F}" destId="{31845D12-634C-4F85-A26D-FD70CBCBD836}" srcOrd="3" destOrd="0" presId="urn:microsoft.com/office/officeart/2016/7/layout/BasicLinearProcessNumbered"/>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4AC130D-1EE4-410D-8963-AA9A81AEF698}" type="doc">
      <dgm:prSet loTypeId="urn:microsoft.com/office/officeart/2018/2/layout/IconLabelList" loCatId="icon" qsTypeId="urn:microsoft.com/office/officeart/2005/8/quickstyle/simple1" qsCatId="simple" csTypeId="urn:microsoft.com/office/officeart/2018/5/colors/Iconchunking_neutralbg_colorful1" csCatId="colorful" phldr="1"/>
      <dgm:spPr/>
      <dgm:t>
        <a:bodyPr/>
        <a:lstStyle/>
        <a:p>
          <a:endParaRPr lang="en-US"/>
        </a:p>
      </dgm:t>
    </dgm:pt>
    <dgm:pt modelId="{B2576A75-93E3-4FF8-8FD2-2E6800A45A72}">
      <dgm:prSet custT="1"/>
      <dgm:spPr/>
      <dgm:t>
        <a:bodyPr/>
        <a:lstStyle/>
        <a:p>
          <a:pPr algn="just"/>
          <a:r>
            <a:rPr lang="en-US" sz="2000" dirty="0">
              <a:latin typeface="Times New Roman" panose="02020603050405020304" pitchFamily="18" charset="0"/>
              <a:cs typeface="Times New Roman" panose="02020603050405020304" pitchFamily="18" charset="0"/>
            </a:rPr>
            <a:t>PM2.5 air quality forecasting is necessary in order to safeguard public health in urban areas</a:t>
          </a:r>
          <a:r>
            <a:rPr lang="en-US" sz="1600" dirty="0">
              <a:latin typeface="Times New Roman" panose="02020603050405020304" pitchFamily="18" charset="0"/>
              <a:cs typeface="Times New Roman" panose="02020603050405020304" pitchFamily="18" charset="0"/>
            </a:rPr>
            <a:t>.</a:t>
          </a:r>
        </a:p>
      </dgm:t>
    </dgm:pt>
    <dgm:pt modelId="{5C0BEE32-66D6-4207-8312-F301C632F2A7}" type="parTrans" cxnId="{B9FD4FE2-6ACC-4DB3-AB45-29E6BA390A34}">
      <dgm:prSet/>
      <dgm:spPr/>
      <dgm:t>
        <a:bodyPr/>
        <a:lstStyle/>
        <a:p>
          <a:endParaRPr lang="en-US"/>
        </a:p>
      </dgm:t>
    </dgm:pt>
    <dgm:pt modelId="{C7C21D9E-1F6E-4D38-92F4-A9F42C506A4A}" type="sibTrans" cxnId="{B9FD4FE2-6ACC-4DB3-AB45-29E6BA390A34}">
      <dgm:prSet/>
      <dgm:spPr/>
      <dgm:t>
        <a:bodyPr/>
        <a:lstStyle/>
        <a:p>
          <a:endParaRPr lang="en-US"/>
        </a:p>
      </dgm:t>
    </dgm:pt>
    <dgm:pt modelId="{B8164409-77E6-41B9-9ED7-A2C90B9C263F}">
      <dgm:prSet custT="1"/>
      <dgm:spPr/>
      <dgm:t>
        <a:bodyPr/>
        <a:lstStyle/>
        <a:p>
          <a:pPr algn="just"/>
          <a:r>
            <a:rPr lang="en-US" sz="1800" dirty="0">
              <a:latin typeface="Times New Roman" panose="02020603050405020304" pitchFamily="18" charset="0"/>
              <a:cs typeface="Times New Roman" panose="02020603050405020304" pitchFamily="18" charset="0"/>
            </a:rPr>
            <a:t>Similar forecasting is also carried out by other big organizations like the EPA, NOAA, and private agencies.</a:t>
          </a:r>
        </a:p>
      </dgm:t>
    </dgm:pt>
    <dgm:pt modelId="{505A1F1A-2221-4D25-9665-C8F340DB7B26}" type="parTrans" cxnId="{FE25E4F3-0B1A-40C4-8C4F-4CA822CE3F04}">
      <dgm:prSet/>
      <dgm:spPr/>
      <dgm:t>
        <a:bodyPr/>
        <a:lstStyle/>
        <a:p>
          <a:endParaRPr lang="en-US"/>
        </a:p>
      </dgm:t>
    </dgm:pt>
    <dgm:pt modelId="{CBF76D08-A63A-4BBC-B5CB-37DC7F78E010}" type="sibTrans" cxnId="{FE25E4F3-0B1A-40C4-8C4F-4CA822CE3F04}">
      <dgm:prSet/>
      <dgm:spPr/>
      <dgm:t>
        <a:bodyPr/>
        <a:lstStyle/>
        <a:p>
          <a:endParaRPr lang="en-US"/>
        </a:p>
      </dgm:t>
    </dgm:pt>
    <dgm:pt modelId="{8DBB6BD5-B92B-4C69-9E29-FA13B66073EC}">
      <dgm:prSet custT="1"/>
      <dgm:spPr/>
      <dgm:t>
        <a:bodyPr/>
        <a:lstStyle/>
        <a:p>
          <a:pPr algn="just"/>
          <a:r>
            <a:rPr lang="en-US" sz="1800" dirty="0">
              <a:latin typeface="Times New Roman" panose="02020603050405020304" pitchFamily="18" charset="0"/>
              <a:cs typeface="Times New Roman" panose="02020603050405020304" pitchFamily="18" charset="0"/>
            </a:rPr>
            <a:t>This project creates a light, accurate machine learning model that forecasts air quality into actionable ranges based on past pm2.5 pollution and weather data.</a:t>
          </a:r>
        </a:p>
      </dgm:t>
    </dgm:pt>
    <dgm:pt modelId="{F60A565B-91C6-4E08-B403-1F6DE8726CD7}" type="parTrans" cxnId="{727D2350-916B-46DD-8742-8E6FCCFF4284}">
      <dgm:prSet/>
      <dgm:spPr/>
      <dgm:t>
        <a:bodyPr/>
        <a:lstStyle/>
        <a:p>
          <a:endParaRPr lang="en-US"/>
        </a:p>
      </dgm:t>
    </dgm:pt>
    <dgm:pt modelId="{4EE4ABBA-2948-480E-A49A-ECA9455E8F10}" type="sibTrans" cxnId="{727D2350-916B-46DD-8742-8E6FCCFF4284}">
      <dgm:prSet/>
      <dgm:spPr/>
      <dgm:t>
        <a:bodyPr/>
        <a:lstStyle/>
        <a:p>
          <a:endParaRPr lang="en-US"/>
        </a:p>
      </dgm:t>
    </dgm:pt>
    <dgm:pt modelId="{A3589F89-71A5-450E-855D-191E828D0B4D}" type="pres">
      <dgm:prSet presAssocID="{F4AC130D-1EE4-410D-8963-AA9A81AEF698}" presName="root" presStyleCnt="0">
        <dgm:presLayoutVars>
          <dgm:dir/>
          <dgm:resizeHandles val="exact"/>
        </dgm:presLayoutVars>
      </dgm:prSet>
      <dgm:spPr/>
    </dgm:pt>
    <dgm:pt modelId="{4BCDFD3D-AC5B-4F28-A76A-394B2652BA5F}" type="pres">
      <dgm:prSet presAssocID="{B2576A75-93E3-4FF8-8FD2-2E6800A45A72}" presName="compNode" presStyleCnt="0"/>
      <dgm:spPr/>
    </dgm:pt>
    <dgm:pt modelId="{B19D69EF-11E5-47AA-9E8D-3FE765A7D0C6}" type="pres">
      <dgm:prSet presAssocID="{B2576A75-93E3-4FF8-8FD2-2E6800A45A72}"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ity"/>
        </a:ext>
      </dgm:extLst>
    </dgm:pt>
    <dgm:pt modelId="{96A11B51-7799-434C-B856-40DE5AAA9FDB}" type="pres">
      <dgm:prSet presAssocID="{B2576A75-93E3-4FF8-8FD2-2E6800A45A72}" presName="spaceRect" presStyleCnt="0"/>
      <dgm:spPr/>
    </dgm:pt>
    <dgm:pt modelId="{04107E92-DB5E-4669-96EA-410BBB80D7AF}" type="pres">
      <dgm:prSet presAssocID="{B2576A75-93E3-4FF8-8FD2-2E6800A45A72}" presName="textRect" presStyleLbl="revTx" presStyleIdx="0" presStyleCnt="3">
        <dgm:presLayoutVars>
          <dgm:chMax val="1"/>
          <dgm:chPref val="1"/>
        </dgm:presLayoutVars>
      </dgm:prSet>
      <dgm:spPr/>
    </dgm:pt>
    <dgm:pt modelId="{C6746071-95E2-4851-9E67-2037705917DA}" type="pres">
      <dgm:prSet presAssocID="{C7C21D9E-1F6E-4D38-92F4-A9F42C506A4A}" presName="sibTrans" presStyleCnt="0"/>
      <dgm:spPr/>
    </dgm:pt>
    <dgm:pt modelId="{0DDB5820-75A3-4B92-94F1-01BAEEE2C813}" type="pres">
      <dgm:prSet presAssocID="{B8164409-77E6-41B9-9ED7-A2C90B9C263F}" presName="compNode" presStyleCnt="0"/>
      <dgm:spPr/>
    </dgm:pt>
    <dgm:pt modelId="{3C94049F-AEED-4740-AD41-3423CACAFA3B}" type="pres">
      <dgm:prSet presAssocID="{B8164409-77E6-41B9-9ED7-A2C90B9C263F}"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Gavel"/>
        </a:ext>
      </dgm:extLst>
    </dgm:pt>
    <dgm:pt modelId="{95E07F46-8A69-42E2-8123-B3C1A5030412}" type="pres">
      <dgm:prSet presAssocID="{B8164409-77E6-41B9-9ED7-A2C90B9C263F}" presName="spaceRect" presStyleCnt="0"/>
      <dgm:spPr/>
    </dgm:pt>
    <dgm:pt modelId="{B4C5DE9E-F570-4D8A-9F15-73A9835AB45B}" type="pres">
      <dgm:prSet presAssocID="{B8164409-77E6-41B9-9ED7-A2C90B9C263F}" presName="textRect" presStyleLbl="revTx" presStyleIdx="1" presStyleCnt="3">
        <dgm:presLayoutVars>
          <dgm:chMax val="1"/>
          <dgm:chPref val="1"/>
        </dgm:presLayoutVars>
      </dgm:prSet>
      <dgm:spPr/>
    </dgm:pt>
    <dgm:pt modelId="{BA66935F-9164-43E7-9550-39615A59F4FE}" type="pres">
      <dgm:prSet presAssocID="{CBF76D08-A63A-4BBC-B5CB-37DC7F78E010}" presName="sibTrans" presStyleCnt="0"/>
      <dgm:spPr/>
    </dgm:pt>
    <dgm:pt modelId="{4D367568-6074-4652-9EAD-CE138093AF95}" type="pres">
      <dgm:prSet presAssocID="{8DBB6BD5-B92B-4C69-9E29-FA13B66073EC}" presName="compNode" presStyleCnt="0"/>
      <dgm:spPr/>
    </dgm:pt>
    <dgm:pt modelId="{585CB721-C880-451C-8FDD-CA990C60E2F1}" type="pres">
      <dgm:prSet presAssocID="{8DBB6BD5-B92B-4C69-9E29-FA13B66073EC}"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Bullseye"/>
        </a:ext>
      </dgm:extLst>
    </dgm:pt>
    <dgm:pt modelId="{37BE41FC-645E-466C-9B4B-9FD1E3FA5280}" type="pres">
      <dgm:prSet presAssocID="{8DBB6BD5-B92B-4C69-9E29-FA13B66073EC}" presName="spaceRect" presStyleCnt="0"/>
      <dgm:spPr/>
    </dgm:pt>
    <dgm:pt modelId="{67F25EDB-B18D-4962-9243-AFB60696BB52}" type="pres">
      <dgm:prSet presAssocID="{8DBB6BD5-B92B-4C69-9E29-FA13B66073EC}" presName="textRect" presStyleLbl="revTx" presStyleIdx="2" presStyleCnt="3">
        <dgm:presLayoutVars>
          <dgm:chMax val="1"/>
          <dgm:chPref val="1"/>
        </dgm:presLayoutVars>
      </dgm:prSet>
      <dgm:spPr/>
    </dgm:pt>
  </dgm:ptLst>
  <dgm:cxnLst>
    <dgm:cxn modelId="{47CC1906-A4C8-43C4-869D-C8D39836A0CC}" type="presOf" srcId="{B8164409-77E6-41B9-9ED7-A2C90B9C263F}" destId="{B4C5DE9E-F570-4D8A-9F15-73A9835AB45B}" srcOrd="0" destOrd="0" presId="urn:microsoft.com/office/officeart/2018/2/layout/IconLabelList"/>
    <dgm:cxn modelId="{41D59E09-9BDB-4BCB-84A1-EB58173D2B4F}" type="presOf" srcId="{8DBB6BD5-B92B-4C69-9E29-FA13B66073EC}" destId="{67F25EDB-B18D-4962-9243-AFB60696BB52}" srcOrd="0" destOrd="0" presId="urn:microsoft.com/office/officeart/2018/2/layout/IconLabelList"/>
    <dgm:cxn modelId="{187B2217-7EBE-4061-BF6D-28588418ED6D}" type="presOf" srcId="{F4AC130D-1EE4-410D-8963-AA9A81AEF698}" destId="{A3589F89-71A5-450E-855D-191E828D0B4D}" srcOrd="0" destOrd="0" presId="urn:microsoft.com/office/officeart/2018/2/layout/IconLabelList"/>
    <dgm:cxn modelId="{727D2350-916B-46DD-8742-8E6FCCFF4284}" srcId="{F4AC130D-1EE4-410D-8963-AA9A81AEF698}" destId="{8DBB6BD5-B92B-4C69-9E29-FA13B66073EC}" srcOrd="2" destOrd="0" parTransId="{F60A565B-91C6-4E08-B403-1F6DE8726CD7}" sibTransId="{4EE4ABBA-2948-480E-A49A-ECA9455E8F10}"/>
    <dgm:cxn modelId="{A902F09B-59AC-42FD-88E3-9C369FCEDD78}" type="presOf" srcId="{B2576A75-93E3-4FF8-8FD2-2E6800A45A72}" destId="{04107E92-DB5E-4669-96EA-410BBB80D7AF}" srcOrd="0" destOrd="0" presId="urn:microsoft.com/office/officeart/2018/2/layout/IconLabelList"/>
    <dgm:cxn modelId="{B9FD4FE2-6ACC-4DB3-AB45-29E6BA390A34}" srcId="{F4AC130D-1EE4-410D-8963-AA9A81AEF698}" destId="{B2576A75-93E3-4FF8-8FD2-2E6800A45A72}" srcOrd="0" destOrd="0" parTransId="{5C0BEE32-66D6-4207-8312-F301C632F2A7}" sibTransId="{C7C21D9E-1F6E-4D38-92F4-A9F42C506A4A}"/>
    <dgm:cxn modelId="{FE25E4F3-0B1A-40C4-8C4F-4CA822CE3F04}" srcId="{F4AC130D-1EE4-410D-8963-AA9A81AEF698}" destId="{B8164409-77E6-41B9-9ED7-A2C90B9C263F}" srcOrd="1" destOrd="0" parTransId="{505A1F1A-2221-4D25-9665-C8F340DB7B26}" sibTransId="{CBF76D08-A63A-4BBC-B5CB-37DC7F78E010}"/>
    <dgm:cxn modelId="{0B6FB82A-D2B8-441B-ACB2-0CC31FD191ED}" type="presParOf" srcId="{A3589F89-71A5-450E-855D-191E828D0B4D}" destId="{4BCDFD3D-AC5B-4F28-A76A-394B2652BA5F}" srcOrd="0" destOrd="0" presId="urn:microsoft.com/office/officeart/2018/2/layout/IconLabelList"/>
    <dgm:cxn modelId="{D9848B4D-525C-405B-BC54-4F82EFCD42FE}" type="presParOf" srcId="{4BCDFD3D-AC5B-4F28-A76A-394B2652BA5F}" destId="{B19D69EF-11E5-47AA-9E8D-3FE765A7D0C6}" srcOrd="0" destOrd="0" presId="urn:microsoft.com/office/officeart/2018/2/layout/IconLabelList"/>
    <dgm:cxn modelId="{29EF3E6F-CE8E-441C-AA47-17ED24AB3DA3}" type="presParOf" srcId="{4BCDFD3D-AC5B-4F28-A76A-394B2652BA5F}" destId="{96A11B51-7799-434C-B856-40DE5AAA9FDB}" srcOrd="1" destOrd="0" presId="urn:microsoft.com/office/officeart/2018/2/layout/IconLabelList"/>
    <dgm:cxn modelId="{C4CA7BB0-486F-4690-8160-EF145FE44D3B}" type="presParOf" srcId="{4BCDFD3D-AC5B-4F28-A76A-394B2652BA5F}" destId="{04107E92-DB5E-4669-96EA-410BBB80D7AF}" srcOrd="2" destOrd="0" presId="urn:microsoft.com/office/officeart/2018/2/layout/IconLabelList"/>
    <dgm:cxn modelId="{19C134FA-3D07-4293-8C73-2EF31AF1AA34}" type="presParOf" srcId="{A3589F89-71A5-450E-855D-191E828D0B4D}" destId="{C6746071-95E2-4851-9E67-2037705917DA}" srcOrd="1" destOrd="0" presId="urn:microsoft.com/office/officeart/2018/2/layout/IconLabelList"/>
    <dgm:cxn modelId="{83CB7C2A-6995-4DD4-80FA-82A0427F2041}" type="presParOf" srcId="{A3589F89-71A5-450E-855D-191E828D0B4D}" destId="{0DDB5820-75A3-4B92-94F1-01BAEEE2C813}" srcOrd="2" destOrd="0" presId="urn:microsoft.com/office/officeart/2018/2/layout/IconLabelList"/>
    <dgm:cxn modelId="{34FAB214-F3EF-4363-ACD2-219A8BFC1E67}" type="presParOf" srcId="{0DDB5820-75A3-4B92-94F1-01BAEEE2C813}" destId="{3C94049F-AEED-4740-AD41-3423CACAFA3B}" srcOrd="0" destOrd="0" presId="urn:microsoft.com/office/officeart/2018/2/layout/IconLabelList"/>
    <dgm:cxn modelId="{B8A903F1-1398-4FA6-941B-DF81B49861EB}" type="presParOf" srcId="{0DDB5820-75A3-4B92-94F1-01BAEEE2C813}" destId="{95E07F46-8A69-42E2-8123-B3C1A5030412}" srcOrd="1" destOrd="0" presId="urn:microsoft.com/office/officeart/2018/2/layout/IconLabelList"/>
    <dgm:cxn modelId="{3BE8D687-8C99-41B9-AC6E-9C0CF4310928}" type="presParOf" srcId="{0DDB5820-75A3-4B92-94F1-01BAEEE2C813}" destId="{B4C5DE9E-F570-4D8A-9F15-73A9835AB45B}" srcOrd="2" destOrd="0" presId="urn:microsoft.com/office/officeart/2018/2/layout/IconLabelList"/>
    <dgm:cxn modelId="{2DCB5872-1BA4-4F2F-9259-5CFAE89561D3}" type="presParOf" srcId="{A3589F89-71A5-450E-855D-191E828D0B4D}" destId="{BA66935F-9164-43E7-9550-39615A59F4FE}" srcOrd="3" destOrd="0" presId="urn:microsoft.com/office/officeart/2018/2/layout/IconLabelList"/>
    <dgm:cxn modelId="{9CE9B60B-E15C-4939-9934-D1A83C3B0945}" type="presParOf" srcId="{A3589F89-71A5-450E-855D-191E828D0B4D}" destId="{4D367568-6074-4652-9EAD-CE138093AF95}" srcOrd="4" destOrd="0" presId="urn:microsoft.com/office/officeart/2018/2/layout/IconLabelList"/>
    <dgm:cxn modelId="{A1639CD2-0307-4342-8D03-928D718E4AA3}" type="presParOf" srcId="{4D367568-6074-4652-9EAD-CE138093AF95}" destId="{585CB721-C880-451C-8FDD-CA990C60E2F1}" srcOrd="0" destOrd="0" presId="urn:microsoft.com/office/officeart/2018/2/layout/IconLabelList"/>
    <dgm:cxn modelId="{208CC79C-CBB4-466E-9AF4-011BC929C75E}" type="presParOf" srcId="{4D367568-6074-4652-9EAD-CE138093AF95}" destId="{37BE41FC-645E-466C-9B4B-9FD1E3FA5280}" srcOrd="1" destOrd="0" presId="urn:microsoft.com/office/officeart/2018/2/layout/IconLabelList"/>
    <dgm:cxn modelId="{93ADECC2-2434-4C1E-A139-1B3A594AFC14}" type="presParOf" srcId="{4D367568-6074-4652-9EAD-CE138093AF95}" destId="{67F25EDB-B18D-4962-9243-AFB60696BB52}"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1EC7B39-976B-48D5-98D5-860AD8F9D46E}" type="doc">
      <dgm:prSet loTypeId="urn:microsoft.com/office/officeart/2005/8/layout/vList2" loCatId="list" qsTypeId="urn:microsoft.com/office/officeart/2005/8/quickstyle/simple4" qsCatId="simple" csTypeId="urn:microsoft.com/office/officeart/2005/8/colors/colorful2" csCatId="colorful"/>
      <dgm:spPr/>
      <dgm:t>
        <a:bodyPr/>
        <a:lstStyle/>
        <a:p>
          <a:endParaRPr lang="en-US"/>
        </a:p>
      </dgm:t>
    </dgm:pt>
    <dgm:pt modelId="{0917DB2F-698F-4314-9C49-3093C40DE056}">
      <dgm:prSet/>
      <dgm:spPr/>
      <dgm:t>
        <a:bodyPr/>
        <a:lstStyle/>
        <a:p>
          <a:r>
            <a:rPr lang="en-US" dirty="0">
              <a:latin typeface="Times New Roman" panose="02020603050405020304" pitchFamily="18" charset="0"/>
              <a:cs typeface="Times New Roman" panose="02020603050405020304" pitchFamily="18" charset="0"/>
            </a:rPr>
            <a:t>PM2.5 stands for the Particulate matter that is 2.5 micrometers or smaller in diameter. This means the particles are 30 times smaller than the hair of the human. </a:t>
          </a:r>
        </a:p>
      </dgm:t>
    </dgm:pt>
    <dgm:pt modelId="{1FCB6C62-1A35-4EAE-A69A-F624EDF612FD}" type="parTrans" cxnId="{96DB96A0-35DA-4DC6-9607-7C168611752C}">
      <dgm:prSet/>
      <dgm:spPr/>
      <dgm:t>
        <a:bodyPr/>
        <a:lstStyle/>
        <a:p>
          <a:endParaRPr lang="en-US"/>
        </a:p>
      </dgm:t>
    </dgm:pt>
    <dgm:pt modelId="{BE6261EE-8013-446E-921A-AF3C4F1FD23F}" type="sibTrans" cxnId="{96DB96A0-35DA-4DC6-9607-7C168611752C}">
      <dgm:prSet/>
      <dgm:spPr/>
      <dgm:t>
        <a:bodyPr/>
        <a:lstStyle/>
        <a:p>
          <a:endParaRPr lang="en-US"/>
        </a:p>
      </dgm:t>
    </dgm:pt>
    <dgm:pt modelId="{CFDBC004-D4FA-4F2A-89C5-682D0EEBE8F8}">
      <dgm:prSet/>
      <dgm:spPr/>
      <dgm:t>
        <a:bodyPr/>
        <a:lstStyle/>
        <a:p>
          <a:r>
            <a:rPr lang="en-US" dirty="0">
              <a:latin typeface="Times New Roman" panose="02020603050405020304" pitchFamily="18" charset="0"/>
              <a:cs typeface="Times New Roman" panose="02020603050405020304" pitchFamily="18" charset="0"/>
            </a:rPr>
            <a:t>These particles are made up of the dust , smoke, liquid droplets etc.</a:t>
          </a:r>
        </a:p>
      </dgm:t>
    </dgm:pt>
    <dgm:pt modelId="{1FF2DF06-2397-41CE-AA2D-D2272D443144}" type="parTrans" cxnId="{48BB78BC-6A23-46AD-AC8F-E93655AE5382}">
      <dgm:prSet/>
      <dgm:spPr/>
      <dgm:t>
        <a:bodyPr/>
        <a:lstStyle/>
        <a:p>
          <a:endParaRPr lang="en-US"/>
        </a:p>
      </dgm:t>
    </dgm:pt>
    <dgm:pt modelId="{D004DFCC-7E5E-44A3-A419-C5CD57CAC95C}" type="sibTrans" cxnId="{48BB78BC-6A23-46AD-AC8F-E93655AE5382}">
      <dgm:prSet/>
      <dgm:spPr/>
      <dgm:t>
        <a:bodyPr/>
        <a:lstStyle/>
        <a:p>
          <a:endParaRPr lang="en-US"/>
        </a:p>
      </dgm:t>
    </dgm:pt>
    <dgm:pt modelId="{CBEFD010-5B72-4531-9BA7-BAEACDA50F2B}">
      <dgm:prSet/>
      <dgm:spPr/>
      <dgm:t>
        <a:bodyPr/>
        <a:lstStyle/>
        <a:p>
          <a:pPr algn="just"/>
          <a:r>
            <a:rPr lang="en-US" dirty="0">
              <a:latin typeface="Times New Roman" panose="02020603050405020304" pitchFamily="18" charset="0"/>
              <a:cs typeface="Times New Roman" panose="02020603050405020304" pitchFamily="18" charset="0"/>
            </a:rPr>
            <a:t>If PM2.5 presents in the air it can penetrate deep into the lungs and if there is possibility it can enter into the bloodstream too causing unhealthy conditions like asthma, heart disease and respiratory infections.</a:t>
          </a:r>
        </a:p>
      </dgm:t>
    </dgm:pt>
    <dgm:pt modelId="{F2427073-4AAE-4A45-98CA-FBAF53652944}" type="parTrans" cxnId="{BA404545-5AEF-4A49-BE01-F29AE4BB7085}">
      <dgm:prSet/>
      <dgm:spPr/>
      <dgm:t>
        <a:bodyPr/>
        <a:lstStyle/>
        <a:p>
          <a:endParaRPr lang="en-US"/>
        </a:p>
      </dgm:t>
    </dgm:pt>
    <dgm:pt modelId="{631DA39C-4602-4262-AB1D-3C59A571D4DF}" type="sibTrans" cxnId="{BA404545-5AEF-4A49-BE01-F29AE4BB7085}">
      <dgm:prSet/>
      <dgm:spPr/>
      <dgm:t>
        <a:bodyPr/>
        <a:lstStyle/>
        <a:p>
          <a:endParaRPr lang="en-US"/>
        </a:p>
      </dgm:t>
    </dgm:pt>
    <dgm:pt modelId="{D6B93994-DE1F-4979-B0C6-64191240B9F6}">
      <dgm:prSet/>
      <dgm:spPr/>
      <dgm:t>
        <a:bodyPr/>
        <a:lstStyle/>
        <a:p>
          <a:pPr algn="just"/>
          <a:r>
            <a:rPr lang="en-US" dirty="0">
              <a:latin typeface="Times New Roman" panose="02020603050405020304" pitchFamily="18" charset="0"/>
              <a:cs typeface="Times New Roman" panose="02020603050405020304" pitchFamily="18" charset="0"/>
            </a:rPr>
            <a:t>So it is mainly dependent on the weather conditions. So we are taking temperature, precipitation, visibility and pm2.5 daily data as features to predict the air quality.</a:t>
          </a:r>
        </a:p>
      </dgm:t>
    </dgm:pt>
    <dgm:pt modelId="{EA96BFF7-D27A-4154-B0B8-A0DB97A100F3}" type="parTrans" cxnId="{3C2AC970-60BB-46D3-A5F2-93408D64566B}">
      <dgm:prSet/>
      <dgm:spPr/>
      <dgm:t>
        <a:bodyPr/>
        <a:lstStyle/>
        <a:p>
          <a:endParaRPr lang="en-US"/>
        </a:p>
      </dgm:t>
    </dgm:pt>
    <dgm:pt modelId="{5EBF53F9-4247-4B03-99D2-A111B483AE59}" type="sibTrans" cxnId="{3C2AC970-60BB-46D3-A5F2-93408D64566B}">
      <dgm:prSet/>
      <dgm:spPr/>
      <dgm:t>
        <a:bodyPr/>
        <a:lstStyle/>
        <a:p>
          <a:endParaRPr lang="en-US"/>
        </a:p>
      </dgm:t>
    </dgm:pt>
    <dgm:pt modelId="{53C70C23-D46A-4D3F-8D01-A237DCE153A3}" type="pres">
      <dgm:prSet presAssocID="{11EC7B39-976B-48D5-98D5-860AD8F9D46E}" presName="linear" presStyleCnt="0">
        <dgm:presLayoutVars>
          <dgm:animLvl val="lvl"/>
          <dgm:resizeHandles val="exact"/>
        </dgm:presLayoutVars>
      </dgm:prSet>
      <dgm:spPr/>
    </dgm:pt>
    <dgm:pt modelId="{FD5957D6-F88D-447F-B3C8-DC3423E25B28}" type="pres">
      <dgm:prSet presAssocID="{0917DB2F-698F-4314-9C49-3093C40DE056}" presName="parentText" presStyleLbl="node1" presStyleIdx="0" presStyleCnt="4">
        <dgm:presLayoutVars>
          <dgm:chMax val="0"/>
          <dgm:bulletEnabled val="1"/>
        </dgm:presLayoutVars>
      </dgm:prSet>
      <dgm:spPr/>
    </dgm:pt>
    <dgm:pt modelId="{2092E6AC-1764-4E43-A709-FBE4CF364F36}" type="pres">
      <dgm:prSet presAssocID="{BE6261EE-8013-446E-921A-AF3C4F1FD23F}" presName="spacer" presStyleCnt="0"/>
      <dgm:spPr/>
    </dgm:pt>
    <dgm:pt modelId="{A6FA1A1A-CE71-4D56-91C6-10BA2825A93A}" type="pres">
      <dgm:prSet presAssocID="{CFDBC004-D4FA-4F2A-89C5-682D0EEBE8F8}" presName="parentText" presStyleLbl="node1" presStyleIdx="1" presStyleCnt="4">
        <dgm:presLayoutVars>
          <dgm:chMax val="0"/>
          <dgm:bulletEnabled val="1"/>
        </dgm:presLayoutVars>
      </dgm:prSet>
      <dgm:spPr/>
    </dgm:pt>
    <dgm:pt modelId="{F705DB1B-5CA4-4FE5-A2BF-B7ECD579E723}" type="pres">
      <dgm:prSet presAssocID="{D004DFCC-7E5E-44A3-A419-C5CD57CAC95C}" presName="spacer" presStyleCnt="0"/>
      <dgm:spPr/>
    </dgm:pt>
    <dgm:pt modelId="{8870DA6C-2C0B-40EA-A4F6-98A043DAA46E}" type="pres">
      <dgm:prSet presAssocID="{CBEFD010-5B72-4531-9BA7-BAEACDA50F2B}" presName="parentText" presStyleLbl="node1" presStyleIdx="2" presStyleCnt="4">
        <dgm:presLayoutVars>
          <dgm:chMax val="0"/>
          <dgm:bulletEnabled val="1"/>
        </dgm:presLayoutVars>
      </dgm:prSet>
      <dgm:spPr/>
    </dgm:pt>
    <dgm:pt modelId="{627EC2E0-B307-44A6-8FCD-D13087B5E6D2}" type="pres">
      <dgm:prSet presAssocID="{631DA39C-4602-4262-AB1D-3C59A571D4DF}" presName="spacer" presStyleCnt="0"/>
      <dgm:spPr/>
    </dgm:pt>
    <dgm:pt modelId="{558546E0-9923-405D-B746-9844CF515E4B}" type="pres">
      <dgm:prSet presAssocID="{D6B93994-DE1F-4979-B0C6-64191240B9F6}" presName="parentText" presStyleLbl="node1" presStyleIdx="3" presStyleCnt="4">
        <dgm:presLayoutVars>
          <dgm:chMax val="0"/>
          <dgm:bulletEnabled val="1"/>
        </dgm:presLayoutVars>
      </dgm:prSet>
      <dgm:spPr/>
    </dgm:pt>
  </dgm:ptLst>
  <dgm:cxnLst>
    <dgm:cxn modelId="{BA404545-5AEF-4A49-BE01-F29AE4BB7085}" srcId="{11EC7B39-976B-48D5-98D5-860AD8F9D46E}" destId="{CBEFD010-5B72-4531-9BA7-BAEACDA50F2B}" srcOrd="2" destOrd="0" parTransId="{F2427073-4AAE-4A45-98CA-FBAF53652944}" sibTransId="{631DA39C-4602-4262-AB1D-3C59A571D4DF}"/>
    <dgm:cxn modelId="{3C2AC970-60BB-46D3-A5F2-93408D64566B}" srcId="{11EC7B39-976B-48D5-98D5-860AD8F9D46E}" destId="{D6B93994-DE1F-4979-B0C6-64191240B9F6}" srcOrd="3" destOrd="0" parTransId="{EA96BFF7-D27A-4154-B0B8-A0DB97A100F3}" sibTransId="{5EBF53F9-4247-4B03-99D2-A111B483AE59}"/>
    <dgm:cxn modelId="{8D955B75-0B50-4165-B8F3-D837F67B708C}" type="presOf" srcId="{D6B93994-DE1F-4979-B0C6-64191240B9F6}" destId="{558546E0-9923-405D-B746-9844CF515E4B}" srcOrd="0" destOrd="0" presId="urn:microsoft.com/office/officeart/2005/8/layout/vList2"/>
    <dgm:cxn modelId="{61482C90-9A49-411C-98A4-539226F0DC98}" type="presOf" srcId="{11EC7B39-976B-48D5-98D5-860AD8F9D46E}" destId="{53C70C23-D46A-4D3F-8D01-A237DCE153A3}" srcOrd="0" destOrd="0" presId="urn:microsoft.com/office/officeart/2005/8/layout/vList2"/>
    <dgm:cxn modelId="{1259379E-9734-48E8-9DA9-17F817CEC1C8}" type="presOf" srcId="{0917DB2F-698F-4314-9C49-3093C40DE056}" destId="{FD5957D6-F88D-447F-B3C8-DC3423E25B28}" srcOrd="0" destOrd="0" presId="urn:microsoft.com/office/officeart/2005/8/layout/vList2"/>
    <dgm:cxn modelId="{96DB96A0-35DA-4DC6-9607-7C168611752C}" srcId="{11EC7B39-976B-48D5-98D5-860AD8F9D46E}" destId="{0917DB2F-698F-4314-9C49-3093C40DE056}" srcOrd="0" destOrd="0" parTransId="{1FCB6C62-1A35-4EAE-A69A-F624EDF612FD}" sibTransId="{BE6261EE-8013-446E-921A-AF3C4F1FD23F}"/>
    <dgm:cxn modelId="{811761A6-EE1F-4EB7-9B28-545037CD8616}" type="presOf" srcId="{CFDBC004-D4FA-4F2A-89C5-682D0EEBE8F8}" destId="{A6FA1A1A-CE71-4D56-91C6-10BA2825A93A}" srcOrd="0" destOrd="0" presId="urn:microsoft.com/office/officeart/2005/8/layout/vList2"/>
    <dgm:cxn modelId="{48BB78BC-6A23-46AD-AC8F-E93655AE5382}" srcId="{11EC7B39-976B-48D5-98D5-860AD8F9D46E}" destId="{CFDBC004-D4FA-4F2A-89C5-682D0EEBE8F8}" srcOrd="1" destOrd="0" parTransId="{1FF2DF06-2397-41CE-AA2D-D2272D443144}" sibTransId="{D004DFCC-7E5E-44A3-A419-C5CD57CAC95C}"/>
    <dgm:cxn modelId="{777EBCE2-68FB-48DE-8ADD-734B034182F3}" type="presOf" srcId="{CBEFD010-5B72-4531-9BA7-BAEACDA50F2B}" destId="{8870DA6C-2C0B-40EA-A4F6-98A043DAA46E}" srcOrd="0" destOrd="0" presId="urn:microsoft.com/office/officeart/2005/8/layout/vList2"/>
    <dgm:cxn modelId="{2CA40A6F-80E1-4B34-9D46-0D79F7BF7A41}" type="presParOf" srcId="{53C70C23-D46A-4D3F-8D01-A237DCE153A3}" destId="{FD5957D6-F88D-447F-B3C8-DC3423E25B28}" srcOrd="0" destOrd="0" presId="urn:microsoft.com/office/officeart/2005/8/layout/vList2"/>
    <dgm:cxn modelId="{863DBD1E-E352-4F76-924F-D6FB7F4F9DB8}" type="presParOf" srcId="{53C70C23-D46A-4D3F-8D01-A237DCE153A3}" destId="{2092E6AC-1764-4E43-A709-FBE4CF364F36}" srcOrd="1" destOrd="0" presId="urn:microsoft.com/office/officeart/2005/8/layout/vList2"/>
    <dgm:cxn modelId="{E0295E5E-29E1-4E90-A5C4-30823FD9E351}" type="presParOf" srcId="{53C70C23-D46A-4D3F-8D01-A237DCE153A3}" destId="{A6FA1A1A-CE71-4D56-91C6-10BA2825A93A}" srcOrd="2" destOrd="0" presId="urn:microsoft.com/office/officeart/2005/8/layout/vList2"/>
    <dgm:cxn modelId="{2FE4F4D0-9542-4296-B13B-443E5FA0C692}" type="presParOf" srcId="{53C70C23-D46A-4D3F-8D01-A237DCE153A3}" destId="{F705DB1B-5CA4-4FE5-A2BF-B7ECD579E723}" srcOrd="3" destOrd="0" presId="urn:microsoft.com/office/officeart/2005/8/layout/vList2"/>
    <dgm:cxn modelId="{AEC66B96-FD52-42CE-ADA5-E357E9C49011}" type="presParOf" srcId="{53C70C23-D46A-4D3F-8D01-A237DCE153A3}" destId="{8870DA6C-2C0B-40EA-A4F6-98A043DAA46E}" srcOrd="4" destOrd="0" presId="urn:microsoft.com/office/officeart/2005/8/layout/vList2"/>
    <dgm:cxn modelId="{860A38BA-3436-48AF-99A9-AE588EF2B780}" type="presParOf" srcId="{53C70C23-D46A-4D3F-8D01-A237DCE153A3}" destId="{627EC2E0-B307-44A6-8FCD-D13087B5E6D2}" srcOrd="5" destOrd="0" presId="urn:microsoft.com/office/officeart/2005/8/layout/vList2"/>
    <dgm:cxn modelId="{86576D16-C208-4BB0-8673-2175E54621F9}" type="presParOf" srcId="{53C70C23-D46A-4D3F-8D01-A237DCE153A3}" destId="{558546E0-9923-405D-B746-9844CF515E4B}"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79C1C61D-BA94-41FF-9243-AB5D3835CB95}"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C1E5FBDA-FCAB-4CC4-9069-177D029AF20B}">
      <dgm:prSet/>
      <dgm:spPr/>
      <dgm:t>
        <a:bodyPr/>
        <a:lstStyle/>
        <a:p>
          <a:pPr algn="just"/>
          <a:r>
            <a:rPr lang="en-US" dirty="0">
              <a:latin typeface="Times New Roman" panose="02020603050405020304" pitchFamily="18" charset="0"/>
              <a:cs typeface="Times New Roman" panose="02020603050405020304" pitchFamily="18" charset="0"/>
            </a:rPr>
            <a:t>I have taken PM2.5 daily values from the Environmental Protection Agency Air Quality System (</a:t>
          </a:r>
          <a:r>
            <a:rPr lang="en-US" b="1" dirty="0">
              <a:latin typeface="Times New Roman" panose="02020603050405020304" pitchFamily="18" charset="0"/>
              <a:cs typeface="Times New Roman" panose="02020603050405020304" pitchFamily="18" charset="0"/>
            </a:rPr>
            <a:t>EPA AQS).  </a:t>
          </a:r>
          <a:r>
            <a:rPr lang="en-US" dirty="0">
              <a:latin typeface="Times New Roman" panose="02020603050405020304" pitchFamily="18" charset="0"/>
              <a:cs typeface="Times New Roman" panose="02020603050405020304" pitchFamily="18" charset="0"/>
            </a:rPr>
            <a:t>And it contains data from 2010 to 2024. And there are 12967 rows and 22 columns in this dataset.</a:t>
          </a:r>
        </a:p>
      </dgm:t>
    </dgm:pt>
    <dgm:pt modelId="{AB6CC8A9-7D66-4B66-B1FD-BF322F06B9FE}" type="parTrans" cxnId="{AA4FC7FF-DD57-4BD6-8987-4C089F791987}">
      <dgm:prSet/>
      <dgm:spPr/>
      <dgm:t>
        <a:bodyPr/>
        <a:lstStyle/>
        <a:p>
          <a:endParaRPr lang="en-US"/>
        </a:p>
      </dgm:t>
    </dgm:pt>
    <dgm:pt modelId="{D1B93C97-AC98-4DC4-9DDA-7BE3045F13C7}" type="sibTrans" cxnId="{AA4FC7FF-DD57-4BD6-8987-4C089F791987}">
      <dgm:prSet/>
      <dgm:spPr/>
      <dgm:t>
        <a:bodyPr/>
        <a:lstStyle/>
        <a:p>
          <a:endParaRPr lang="en-US"/>
        </a:p>
      </dgm:t>
    </dgm:pt>
    <dgm:pt modelId="{1DB0906C-39DA-4025-853D-46F766C52037}">
      <dgm:prSet/>
      <dgm:spPr/>
      <dgm:t>
        <a:bodyPr/>
        <a:lstStyle/>
        <a:p>
          <a:pPr algn="just"/>
          <a:r>
            <a:rPr lang="en-US" dirty="0">
              <a:latin typeface="Times New Roman" panose="02020603050405020304" pitchFamily="18" charset="0"/>
              <a:cs typeface="Times New Roman" panose="02020603050405020304" pitchFamily="18" charset="0"/>
            </a:rPr>
            <a:t>And the weather data is collected from the National Oceanic and Atmospheric Administration National Centers for Environmental Information (</a:t>
          </a:r>
          <a:r>
            <a:rPr lang="en-US" b="1" dirty="0">
              <a:latin typeface="Times New Roman" panose="02020603050405020304" pitchFamily="18" charset="0"/>
              <a:cs typeface="Times New Roman" panose="02020603050405020304" pitchFamily="18" charset="0"/>
            </a:rPr>
            <a:t>NOAA NCEI). </a:t>
          </a:r>
          <a:r>
            <a:rPr lang="en-US" dirty="0">
              <a:latin typeface="Times New Roman" panose="02020603050405020304" pitchFamily="18" charset="0"/>
              <a:cs typeface="Times New Roman" panose="02020603050405020304" pitchFamily="18" charset="0"/>
            </a:rPr>
            <a:t>This data is also from 2010 to 2014. And there are 5479 rows and 28 columns.</a:t>
          </a:r>
        </a:p>
      </dgm:t>
    </dgm:pt>
    <dgm:pt modelId="{90DD0348-FFDA-443D-AC10-64D387D04C0D}" type="parTrans" cxnId="{8176A718-193B-4C30-9B3F-B294A2619894}">
      <dgm:prSet/>
      <dgm:spPr/>
      <dgm:t>
        <a:bodyPr/>
        <a:lstStyle/>
        <a:p>
          <a:endParaRPr lang="en-US"/>
        </a:p>
      </dgm:t>
    </dgm:pt>
    <dgm:pt modelId="{450D5B27-3426-4D0F-9D1C-8F83E072F5C0}" type="sibTrans" cxnId="{8176A718-193B-4C30-9B3F-B294A2619894}">
      <dgm:prSet/>
      <dgm:spPr/>
      <dgm:t>
        <a:bodyPr/>
        <a:lstStyle/>
        <a:p>
          <a:endParaRPr lang="en-US"/>
        </a:p>
      </dgm:t>
    </dgm:pt>
    <dgm:pt modelId="{2C807464-4D61-4DF9-8127-0B6116BCCF17}">
      <dgm:prSet/>
      <dgm:spPr/>
      <dgm:t>
        <a:bodyPr/>
        <a:lstStyle/>
        <a:p>
          <a:pPr algn="just"/>
          <a:r>
            <a:rPr lang="en-US" dirty="0">
              <a:latin typeface="Times New Roman" panose="02020603050405020304" pitchFamily="18" charset="0"/>
              <a:cs typeface="Times New Roman" panose="02020603050405020304" pitchFamily="18" charset="0"/>
            </a:rPr>
            <a:t>I have taken pm2.5 daily data from Los Angeles North Main street. And the weather data from Los angels international airport. Where both the areas are very close within 20miles. So pm2.5 and the weather doesn’t vary much around this region.</a:t>
          </a:r>
        </a:p>
      </dgm:t>
    </dgm:pt>
    <dgm:pt modelId="{E76C9406-4301-485E-8D7D-3CDA78F46336}" type="parTrans" cxnId="{50CE4752-D67C-408B-88DD-598993DD1CF7}">
      <dgm:prSet/>
      <dgm:spPr/>
      <dgm:t>
        <a:bodyPr/>
        <a:lstStyle/>
        <a:p>
          <a:endParaRPr lang="en-US"/>
        </a:p>
      </dgm:t>
    </dgm:pt>
    <dgm:pt modelId="{5836D81B-3D7C-4337-B3FA-7DF99376557D}" type="sibTrans" cxnId="{50CE4752-D67C-408B-88DD-598993DD1CF7}">
      <dgm:prSet/>
      <dgm:spPr/>
      <dgm:t>
        <a:bodyPr/>
        <a:lstStyle/>
        <a:p>
          <a:endParaRPr lang="en-US"/>
        </a:p>
      </dgm:t>
    </dgm:pt>
    <dgm:pt modelId="{9DA58EDE-9E52-46C5-A78E-31A858CF4766}" type="pres">
      <dgm:prSet presAssocID="{79C1C61D-BA94-41FF-9243-AB5D3835CB95}" presName="root" presStyleCnt="0">
        <dgm:presLayoutVars>
          <dgm:dir/>
          <dgm:resizeHandles val="exact"/>
        </dgm:presLayoutVars>
      </dgm:prSet>
      <dgm:spPr/>
    </dgm:pt>
    <dgm:pt modelId="{32E2519B-097F-4D17-81C9-AA4A2567EC6F}" type="pres">
      <dgm:prSet presAssocID="{C1E5FBDA-FCAB-4CC4-9069-177D029AF20B}" presName="compNode" presStyleCnt="0"/>
      <dgm:spPr/>
    </dgm:pt>
    <dgm:pt modelId="{DB9638D8-8B89-4EF5-838B-1EE5DF4113C3}" type="pres">
      <dgm:prSet presAssocID="{C1E5FBDA-FCAB-4CC4-9069-177D029AF20B}" presName="bgRect" presStyleLbl="bgShp" presStyleIdx="0" presStyleCnt="3"/>
      <dgm:spPr/>
    </dgm:pt>
    <dgm:pt modelId="{BCED224A-38ED-4500-9A6E-D4D55E7C44E0}" type="pres">
      <dgm:prSet presAssocID="{C1E5FBDA-FCAB-4CC4-9069-177D029AF20B}"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Whale"/>
        </a:ext>
      </dgm:extLst>
    </dgm:pt>
    <dgm:pt modelId="{3EF4276D-A231-4DD8-9564-FC285E91D52D}" type="pres">
      <dgm:prSet presAssocID="{C1E5FBDA-FCAB-4CC4-9069-177D029AF20B}" presName="spaceRect" presStyleCnt="0"/>
      <dgm:spPr/>
    </dgm:pt>
    <dgm:pt modelId="{415C6CEC-07C0-475F-A336-B6109AB3E9DF}" type="pres">
      <dgm:prSet presAssocID="{C1E5FBDA-FCAB-4CC4-9069-177D029AF20B}" presName="parTx" presStyleLbl="revTx" presStyleIdx="0" presStyleCnt="3">
        <dgm:presLayoutVars>
          <dgm:chMax val="0"/>
          <dgm:chPref val="0"/>
        </dgm:presLayoutVars>
      </dgm:prSet>
      <dgm:spPr/>
    </dgm:pt>
    <dgm:pt modelId="{B67A9B89-4EE3-421C-9714-DFECD6559368}" type="pres">
      <dgm:prSet presAssocID="{D1B93C97-AC98-4DC4-9DDA-7BE3045F13C7}" presName="sibTrans" presStyleCnt="0"/>
      <dgm:spPr/>
    </dgm:pt>
    <dgm:pt modelId="{D9A69402-2DB1-4C13-80CB-3B44BDEBAC81}" type="pres">
      <dgm:prSet presAssocID="{1DB0906C-39DA-4025-853D-46F766C52037}" presName="compNode" presStyleCnt="0"/>
      <dgm:spPr/>
    </dgm:pt>
    <dgm:pt modelId="{B00BCCF8-B3C2-4581-A79A-94371AA57427}" type="pres">
      <dgm:prSet presAssocID="{1DB0906C-39DA-4025-853D-46F766C52037}" presName="bgRect" presStyleLbl="bgShp" presStyleIdx="1" presStyleCnt="3"/>
      <dgm:spPr/>
    </dgm:pt>
    <dgm:pt modelId="{AFA31124-E121-4E10-9DA8-8C5AFBD4E4FF}" type="pres">
      <dgm:prSet presAssocID="{1DB0906C-39DA-4025-853D-46F766C52037}"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artial Sun"/>
        </a:ext>
      </dgm:extLst>
    </dgm:pt>
    <dgm:pt modelId="{B0BAB615-7DD4-41D7-B061-090BEFFCD5F2}" type="pres">
      <dgm:prSet presAssocID="{1DB0906C-39DA-4025-853D-46F766C52037}" presName="spaceRect" presStyleCnt="0"/>
      <dgm:spPr/>
    </dgm:pt>
    <dgm:pt modelId="{8F765EC7-078C-4930-9761-41F2A4D91F72}" type="pres">
      <dgm:prSet presAssocID="{1DB0906C-39DA-4025-853D-46F766C52037}" presName="parTx" presStyleLbl="revTx" presStyleIdx="1" presStyleCnt="3">
        <dgm:presLayoutVars>
          <dgm:chMax val="0"/>
          <dgm:chPref val="0"/>
        </dgm:presLayoutVars>
      </dgm:prSet>
      <dgm:spPr/>
    </dgm:pt>
    <dgm:pt modelId="{199223DE-3150-4AA4-9B94-10A8C98E4083}" type="pres">
      <dgm:prSet presAssocID="{450D5B27-3426-4D0F-9D1C-8F83E072F5C0}" presName="sibTrans" presStyleCnt="0"/>
      <dgm:spPr/>
    </dgm:pt>
    <dgm:pt modelId="{B4C3CB64-6102-4F0D-AF96-5F55F2A44383}" type="pres">
      <dgm:prSet presAssocID="{2C807464-4D61-4DF9-8127-0B6116BCCF17}" presName="compNode" presStyleCnt="0"/>
      <dgm:spPr/>
    </dgm:pt>
    <dgm:pt modelId="{DE017744-AD6F-4732-BD11-2BE975741C3F}" type="pres">
      <dgm:prSet presAssocID="{2C807464-4D61-4DF9-8127-0B6116BCCF17}" presName="bgRect" presStyleLbl="bgShp" presStyleIdx="2" presStyleCnt="3"/>
      <dgm:spPr/>
    </dgm:pt>
    <dgm:pt modelId="{B0F7453B-0234-4771-91B3-66A7F34DE2E8}" type="pres">
      <dgm:prSet presAssocID="{2C807464-4D61-4DF9-8127-0B6116BCCF17}"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Helicopter"/>
        </a:ext>
      </dgm:extLst>
    </dgm:pt>
    <dgm:pt modelId="{7AA0DA87-BE09-4EE5-B12A-1A2F1B714EFC}" type="pres">
      <dgm:prSet presAssocID="{2C807464-4D61-4DF9-8127-0B6116BCCF17}" presName="spaceRect" presStyleCnt="0"/>
      <dgm:spPr/>
    </dgm:pt>
    <dgm:pt modelId="{E4590065-768B-4B7D-8186-C29BEA992B89}" type="pres">
      <dgm:prSet presAssocID="{2C807464-4D61-4DF9-8127-0B6116BCCF17}" presName="parTx" presStyleLbl="revTx" presStyleIdx="2" presStyleCnt="3">
        <dgm:presLayoutVars>
          <dgm:chMax val="0"/>
          <dgm:chPref val="0"/>
        </dgm:presLayoutVars>
      </dgm:prSet>
      <dgm:spPr/>
    </dgm:pt>
  </dgm:ptLst>
  <dgm:cxnLst>
    <dgm:cxn modelId="{B8D0F205-1477-40E1-B637-7A06A23DA6A4}" type="presOf" srcId="{79C1C61D-BA94-41FF-9243-AB5D3835CB95}" destId="{9DA58EDE-9E52-46C5-A78E-31A858CF4766}" srcOrd="0" destOrd="0" presId="urn:microsoft.com/office/officeart/2018/2/layout/IconVerticalSolidList"/>
    <dgm:cxn modelId="{40D93012-70B0-41D5-85BA-6A41E1F24153}" type="presOf" srcId="{1DB0906C-39DA-4025-853D-46F766C52037}" destId="{8F765EC7-078C-4930-9761-41F2A4D91F72}" srcOrd="0" destOrd="0" presId="urn:microsoft.com/office/officeart/2018/2/layout/IconVerticalSolidList"/>
    <dgm:cxn modelId="{8176A718-193B-4C30-9B3F-B294A2619894}" srcId="{79C1C61D-BA94-41FF-9243-AB5D3835CB95}" destId="{1DB0906C-39DA-4025-853D-46F766C52037}" srcOrd="1" destOrd="0" parTransId="{90DD0348-FFDA-443D-AC10-64D387D04C0D}" sibTransId="{450D5B27-3426-4D0F-9D1C-8F83E072F5C0}"/>
    <dgm:cxn modelId="{5F256833-9591-4B7A-B298-B136B414F70D}" type="presOf" srcId="{2C807464-4D61-4DF9-8127-0B6116BCCF17}" destId="{E4590065-768B-4B7D-8186-C29BEA992B89}" srcOrd="0" destOrd="0" presId="urn:microsoft.com/office/officeart/2018/2/layout/IconVerticalSolidList"/>
    <dgm:cxn modelId="{50CE4752-D67C-408B-88DD-598993DD1CF7}" srcId="{79C1C61D-BA94-41FF-9243-AB5D3835CB95}" destId="{2C807464-4D61-4DF9-8127-0B6116BCCF17}" srcOrd="2" destOrd="0" parTransId="{E76C9406-4301-485E-8D7D-3CDA78F46336}" sibTransId="{5836D81B-3D7C-4337-B3FA-7DF99376557D}"/>
    <dgm:cxn modelId="{32794679-0E7B-4898-89CD-9B81365311F8}" type="presOf" srcId="{C1E5FBDA-FCAB-4CC4-9069-177D029AF20B}" destId="{415C6CEC-07C0-475F-A336-B6109AB3E9DF}" srcOrd="0" destOrd="0" presId="urn:microsoft.com/office/officeart/2018/2/layout/IconVerticalSolidList"/>
    <dgm:cxn modelId="{AA4FC7FF-DD57-4BD6-8987-4C089F791987}" srcId="{79C1C61D-BA94-41FF-9243-AB5D3835CB95}" destId="{C1E5FBDA-FCAB-4CC4-9069-177D029AF20B}" srcOrd="0" destOrd="0" parTransId="{AB6CC8A9-7D66-4B66-B1FD-BF322F06B9FE}" sibTransId="{D1B93C97-AC98-4DC4-9DDA-7BE3045F13C7}"/>
    <dgm:cxn modelId="{6E689B49-7EB3-46A6-A5C3-AEFAF4412B2C}" type="presParOf" srcId="{9DA58EDE-9E52-46C5-A78E-31A858CF4766}" destId="{32E2519B-097F-4D17-81C9-AA4A2567EC6F}" srcOrd="0" destOrd="0" presId="urn:microsoft.com/office/officeart/2018/2/layout/IconVerticalSolidList"/>
    <dgm:cxn modelId="{7FC6FE0B-B488-4EE8-80E7-1C932BEB2E18}" type="presParOf" srcId="{32E2519B-097F-4D17-81C9-AA4A2567EC6F}" destId="{DB9638D8-8B89-4EF5-838B-1EE5DF4113C3}" srcOrd="0" destOrd="0" presId="urn:microsoft.com/office/officeart/2018/2/layout/IconVerticalSolidList"/>
    <dgm:cxn modelId="{98DA55A4-724E-4AEE-8BC7-02CEA02FE520}" type="presParOf" srcId="{32E2519B-097F-4D17-81C9-AA4A2567EC6F}" destId="{BCED224A-38ED-4500-9A6E-D4D55E7C44E0}" srcOrd="1" destOrd="0" presId="urn:microsoft.com/office/officeart/2018/2/layout/IconVerticalSolidList"/>
    <dgm:cxn modelId="{F2515308-9E69-4B4B-B41A-EE532B4138DD}" type="presParOf" srcId="{32E2519B-097F-4D17-81C9-AA4A2567EC6F}" destId="{3EF4276D-A231-4DD8-9564-FC285E91D52D}" srcOrd="2" destOrd="0" presId="urn:microsoft.com/office/officeart/2018/2/layout/IconVerticalSolidList"/>
    <dgm:cxn modelId="{CA735915-939B-492E-9FBA-A72E7D8C7C89}" type="presParOf" srcId="{32E2519B-097F-4D17-81C9-AA4A2567EC6F}" destId="{415C6CEC-07C0-475F-A336-B6109AB3E9DF}" srcOrd="3" destOrd="0" presId="urn:microsoft.com/office/officeart/2018/2/layout/IconVerticalSolidList"/>
    <dgm:cxn modelId="{B01EBB54-07FA-4DDE-A40E-23856736FCF1}" type="presParOf" srcId="{9DA58EDE-9E52-46C5-A78E-31A858CF4766}" destId="{B67A9B89-4EE3-421C-9714-DFECD6559368}" srcOrd="1" destOrd="0" presId="urn:microsoft.com/office/officeart/2018/2/layout/IconVerticalSolidList"/>
    <dgm:cxn modelId="{5B27FB49-D597-437F-9854-2C9477FE38A9}" type="presParOf" srcId="{9DA58EDE-9E52-46C5-A78E-31A858CF4766}" destId="{D9A69402-2DB1-4C13-80CB-3B44BDEBAC81}" srcOrd="2" destOrd="0" presId="urn:microsoft.com/office/officeart/2018/2/layout/IconVerticalSolidList"/>
    <dgm:cxn modelId="{26013D35-357A-43DC-9436-C288BE89A850}" type="presParOf" srcId="{D9A69402-2DB1-4C13-80CB-3B44BDEBAC81}" destId="{B00BCCF8-B3C2-4581-A79A-94371AA57427}" srcOrd="0" destOrd="0" presId="urn:microsoft.com/office/officeart/2018/2/layout/IconVerticalSolidList"/>
    <dgm:cxn modelId="{86011F90-FA5F-4F80-9B97-6AFFBCD7D9F3}" type="presParOf" srcId="{D9A69402-2DB1-4C13-80CB-3B44BDEBAC81}" destId="{AFA31124-E121-4E10-9DA8-8C5AFBD4E4FF}" srcOrd="1" destOrd="0" presId="urn:microsoft.com/office/officeart/2018/2/layout/IconVerticalSolidList"/>
    <dgm:cxn modelId="{28B6A686-D860-436B-A82D-2D7708D4B04D}" type="presParOf" srcId="{D9A69402-2DB1-4C13-80CB-3B44BDEBAC81}" destId="{B0BAB615-7DD4-41D7-B061-090BEFFCD5F2}" srcOrd="2" destOrd="0" presId="urn:microsoft.com/office/officeart/2018/2/layout/IconVerticalSolidList"/>
    <dgm:cxn modelId="{A2FBDE4F-5258-49FC-9E3B-EC170C1172E4}" type="presParOf" srcId="{D9A69402-2DB1-4C13-80CB-3B44BDEBAC81}" destId="{8F765EC7-078C-4930-9761-41F2A4D91F72}" srcOrd="3" destOrd="0" presId="urn:microsoft.com/office/officeart/2018/2/layout/IconVerticalSolidList"/>
    <dgm:cxn modelId="{AAF6E87F-3C25-4EA1-920E-C5C5E0AA5120}" type="presParOf" srcId="{9DA58EDE-9E52-46C5-A78E-31A858CF4766}" destId="{199223DE-3150-4AA4-9B94-10A8C98E4083}" srcOrd="3" destOrd="0" presId="urn:microsoft.com/office/officeart/2018/2/layout/IconVerticalSolidList"/>
    <dgm:cxn modelId="{2834B9EE-C4E1-4AD5-953B-A4537D0756D2}" type="presParOf" srcId="{9DA58EDE-9E52-46C5-A78E-31A858CF4766}" destId="{B4C3CB64-6102-4F0D-AF96-5F55F2A44383}" srcOrd="4" destOrd="0" presId="urn:microsoft.com/office/officeart/2018/2/layout/IconVerticalSolidList"/>
    <dgm:cxn modelId="{576B06EA-77DA-4656-B91E-7C4EA50F16D4}" type="presParOf" srcId="{B4C3CB64-6102-4F0D-AF96-5F55F2A44383}" destId="{DE017744-AD6F-4732-BD11-2BE975741C3F}" srcOrd="0" destOrd="0" presId="urn:microsoft.com/office/officeart/2018/2/layout/IconVerticalSolidList"/>
    <dgm:cxn modelId="{81D0CD46-5920-463F-B0B0-1354750BC21C}" type="presParOf" srcId="{B4C3CB64-6102-4F0D-AF96-5F55F2A44383}" destId="{B0F7453B-0234-4771-91B3-66A7F34DE2E8}" srcOrd="1" destOrd="0" presId="urn:microsoft.com/office/officeart/2018/2/layout/IconVerticalSolidList"/>
    <dgm:cxn modelId="{7D2596D6-B9C9-44DA-946B-9969E7A9B6BB}" type="presParOf" srcId="{B4C3CB64-6102-4F0D-AF96-5F55F2A44383}" destId="{7AA0DA87-BE09-4EE5-B12A-1A2F1B714EFC}" srcOrd="2" destOrd="0" presId="urn:microsoft.com/office/officeart/2018/2/layout/IconVerticalSolidList"/>
    <dgm:cxn modelId="{33E6922B-CE99-44B2-9929-59425C1D7669}" type="presParOf" srcId="{B4C3CB64-6102-4F0D-AF96-5F55F2A44383}" destId="{E4590065-768B-4B7D-8186-C29BEA992B89}"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20046281-D83D-448D-9E6C-65C1E07EB327}" type="doc">
      <dgm:prSet loTypeId="urn:microsoft.com/office/officeart/2018/2/layout/IconLabelList" loCatId="icon" qsTypeId="urn:microsoft.com/office/officeart/2005/8/quickstyle/simple1" qsCatId="simple" csTypeId="urn:microsoft.com/office/officeart/2018/5/colors/Iconchunking_neutralbg_colorful1" csCatId="colorful" phldr="1"/>
      <dgm:spPr/>
      <dgm:t>
        <a:bodyPr/>
        <a:lstStyle/>
        <a:p>
          <a:endParaRPr lang="en-US"/>
        </a:p>
      </dgm:t>
    </dgm:pt>
    <dgm:pt modelId="{B59AE1FF-7D48-446E-91AC-135F2247B40C}">
      <dgm:prSet/>
      <dgm:spPr/>
      <dgm:t>
        <a:bodyPr/>
        <a:lstStyle/>
        <a:p>
          <a:r>
            <a:rPr lang="en-US" dirty="0">
              <a:latin typeface="Times New Roman" panose="02020603050405020304" pitchFamily="18" charset="0"/>
              <a:cs typeface="Times New Roman" panose="02020603050405020304" pitchFamily="18" charset="0"/>
            </a:rPr>
            <a:t>The data is taken from the 2010 to 2024. I have downloaded the data for each year individually</a:t>
          </a:r>
          <a:r>
            <a:rPr lang="en-US" dirty="0"/>
            <a:t>.</a:t>
          </a:r>
        </a:p>
      </dgm:t>
    </dgm:pt>
    <dgm:pt modelId="{57203AB6-D3D4-4933-98AA-5A97EEDE4338}" type="parTrans" cxnId="{B63FF186-E42C-47F9-9185-6BB5DA272DEB}">
      <dgm:prSet/>
      <dgm:spPr/>
      <dgm:t>
        <a:bodyPr/>
        <a:lstStyle/>
        <a:p>
          <a:endParaRPr lang="en-US"/>
        </a:p>
      </dgm:t>
    </dgm:pt>
    <dgm:pt modelId="{FC185CDC-6891-44AA-A665-C9B3373668B3}" type="sibTrans" cxnId="{B63FF186-E42C-47F9-9185-6BB5DA272DEB}">
      <dgm:prSet/>
      <dgm:spPr/>
      <dgm:t>
        <a:bodyPr/>
        <a:lstStyle/>
        <a:p>
          <a:endParaRPr lang="en-US"/>
        </a:p>
      </dgm:t>
    </dgm:pt>
    <dgm:pt modelId="{FECB502D-AC8E-4632-B383-A022DF601EBF}">
      <dgm:prSet/>
      <dgm:spPr/>
      <dgm:t>
        <a:bodyPr/>
        <a:lstStyle/>
        <a:p>
          <a:r>
            <a:rPr lang="en-US" dirty="0">
              <a:latin typeface="Times New Roman" panose="02020603050405020304" pitchFamily="18" charset="0"/>
              <a:cs typeface="Times New Roman" panose="02020603050405020304" pitchFamily="18" charset="0"/>
            </a:rPr>
            <a:t>So the data is merged and made into one csv file. The EPA AQS data contains 12967rows. This means on the same date the values are measured by different instruments.</a:t>
          </a:r>
        </a:p>
      </dgm:t>
    </dgm:pt>
    <dgm:pt modelId="{6C40B8D4-9A68-4619-9EE2-83B44A69204D}" type="parTrans" cxnId="{B0CFFEB4-776F-43B3-94CC-422F111FE110}">
      <dgm:prSet/>
      <dgm:spPr/>
      <dgm:t>
        <a:bodyPr/>
        <a:lstStyle/>
        <a:p>
          <a:endParaRPr lang="en-US"/>
        </a:p>
      </dgm:t>
    </dgm:pt>
    <dgm:pt modelId="{32BD3F73-BDA8-4FA7-8604-C787221AE5BF}" type="sibTrans" cxnId="{B0CFFEB4-776F-43B3-94CC-422F111FE110}">
      <dgm:prSet/>
      <dgm:spPr/>
      <dgm:t>
        <a:bodyPr/>
        <a:lstStyle/>
        <a:p>
          <a:endParaRPr lang="en-US"/>
        </a:p>
      </dgm:t>
    </dgm:pt>
    <dgm:pt modelId="{9C267F2B-851B-4910-8BBF-04A45DB72E60}">
      <dgm:prSet/>
      <dgm:spPr/>
      <dgm:t>
        <a:bodyPr/>
        <a:lstStyle/>
        <a:p>
          <a:r>
            <a:rPr lang="en-US" dirty="0">
              <a:latin typeface="Times New Roman" panose="02020603050405020304" pitchFamily="18" charset="0"/>
              <a:cs typeface="Times New Roman" panose="02020603050405020304" pitchFamily="18" charset="0"/>
            </a:rPr>
            <a:t>So I grouped and averaged the data in EPA file using the date column. After that it contains 5457 rows. And selected only pm2.5 daily data column. So EPA data now has 5457rows  and 2 columns.</a:t>
          </a:r>
        </a:p>
      </dgm:t>
    </dgm:pt>
    <dgm:pt modelId="{110171E2-1D07-4C27-A803-59DC30764810}" type="parTrans" cxnId="{090A66D2-9FAE-4508-BDD8-CEEF7696294C}">
      <dgm:prSet/>
      <dgm:spPr/>
      <dgm:t>
        <a:bodyPr/>
        <a:lstStyle/>
        <a:p>
          <a:endParaRPr lang="en-US"/>
        </a:p>
      </dgm:t>
    </dgm:pt>
    <dgm:pt modelId="{68D6A9B9-A95F-4091-BA39-6B1743D8B42F}" type="sibTrans" cxnId="{090A66D2-9FAE-4508-BDD8-CEEF7696294C}">
      <dgm:prSet/>
      <dgm:spPr/>
      <dgm:t>
        <a:bodyPr/>
        <a:lstStyle/>
        <a:p>
          <a:endParaRPr lang="en-US"/>
        </a:p>
      </dgm:t>
    </dgm:pt>
    <dgm:pt modelId="{4ECEDEEE-9A52-4379-8FB7-279EA3F0F749}">
      <dgm:prSet/>
      <dgm:spPr/>
      <dgm:t>
        <a:bodyPr/>
        <a:lstStyle/>
        <a:p>
          <a:r>
            <a:rPr lang="en-US" dirty="0">
              <a:latin typeface="Times New Roman" panose="02020603050405020304" pitchFamily="18" charset="0"/>
              <a:cs typeface="Times New Roman" panose="02020603050405020304" pitchFamily="18" charset="0"/>
            </a:rPr>
            <a:t>NOAA NCEI data is also from 2010 to 2024. Merged all the files and made into one csv file.</a:t>
          </a:r>
        </a:p>
      </dgm:t>
    </dgm:pt>
    <dgm:pt modelId="{6AB827C8-BF4F-4420-A21E-25522A91A966}" type="parTrans" cxnId="{7EEB05D5-4932-4258-9C3B-0CBE20BDD251}">
      <dgm:prSet/>
      <dgm:spPr/>
      <dgm:t>
        <a:bodyPr/>
        <a:lstStyle/>
        <a:p>
          <a:endParaRPr lang="en-US"/>
        </a:p>
      </dgm:t>
    </dgm:pt>
    <dgm:pt modelId="{C282F837-08F6-4BB4-B120-B19247A38FE1}" type="sibTrans" cxnId="{7EEB05D5-4932-4258-9C3B-0CBE20BDD251}">
      <dgm:prSet/>
      <dgm:spPr/>
      <dgm:t>
        <a:bodyPr/>
        <a:lstStyle/>
        <a:p>
          <a:endParaRPr lang="en-US"/>
        </a:p>
      </dgm:t>
    </dgm:pt>
    <dgm:pt modelId="{A8DFA9DA-3C70-412F-8C47-E43166BB003D}">
      <dgm:prSet/>
      <dgm:spPr/>
      <dgm:t>
        <a:bodyPr/>
        <a:lstStyle/>
        <a:p>
          <a:r>
            <a:rPr lang="en-US" dirty="0">
              <a:latin typeface="Times New Roman" panose="02020603050405020304" pitchFamily="18" charset="0"/>
              <a:cs typeface="Times New Roman" panose="02020603050405020304" pitchFamily="18" charset="0"/>
            </a:rPr>
            <a:t>Merged both the datasets based on date column into one csv file. So final dataset has 5457 rows and 16 columns</a:t>
          </a:r>
          <a:r>
            <a:rPr lang="en-US" dirty="0"/>
            <a:t>.</a:t>
          </a:r>
        </a:p>
      </dgm:t>
    </dgm:pt>
    <dgm:pt modelId="{827B5A33-02BE-43B0-8888-1C1D7FC4B00E}" type="parTrans" cxnId="{D772FDBA-EE01-4D3B-BE39-83BE1FD74D3B}">
      <dgm:prSet/>
      <dgm:spPr/>
      <dgm:t>
        <a:bodyPr/>
        <a:lstStyle/>
        <a:p>
          <a:endParaRPr lang="en-US"/>
        </a:p>
      </dgm:t>
    </dgm:pt>
    <dgm:pt modelId="{8E8BA2AC-EBC0-4B3B-9992-3C3CB39DAFC1}" type="sibTrans" cxnId="{D772FDBA-EE01-4D3B-BE39-83BE1FD74D3B}">
      <dgm:prSet/>
      <dgm:spPr/>
      <dgm:t>
        <a:bodyPr/>
        <a:lstStyle/>
        <a:p>
          <a:endParaRPr lang="en-US"/>
        </a:p>
      </dgm:t>
    </dgm:pt>
    <dgm:pt modelId="{FBC6F9E0-1D67-47D1-870E-B6403292B27D}">
      <dgm:prSet custT="1"/>
      <dgm:spPr/>
      <dgm:t>
        <a:bodyPr/>
        <a:lstStyle/>
        <a:p>
          <a:r>
            <a:rPr lang="en-US" sz="1400" dirty="0">
              <a:latin typeface="Times New Roman" panose="02020603050405020304" pitchFamily="18" charset="0"/>
              <a:cs typeface="Times New Roman" panose="02020603050405020304" pitchFamily="18" charset="0"/>
            </a:rPr>
            <a:t>New features are created using existing features. And lagged features are created.</a:t>
          </a:r>
        </a:p>
      </dgm:t>
    </dgm:pt>
    <dgm:pt modelId="{488EEF8C-E07F-4162-A3EF-6572F3379583}" type="parTrans" cxnId="{A2E635C0-20F4-4FB8-8F81-75A7FCE59581}">
      <dgm:prSet/>
      <dgm:spPr/>
      <dgm:t>
        <a:bodyPr/>
        <a:lstStyle/>
        <a:p>
          <a:endParaRPr lang="en-US"/>
        </a:p>
      </dgm:t>
    </dgm:pt>
    <dgm:pt modelId="{2C8F4EF1-EB20-432F-90DD-D9158260ABC5}" type="sibTrans" cxnId="{A2E635C0-20F4-4FB8-8F81-75A7FCE59581}">
      <dgm:prSet/>
      <dgm:spPr/>
      <dgm:t>
        <a:bodyPr/>
        <a:lstStyle/>
        <a:p>
          <a:endParaRPr lang="en-US"/>
        </a:p>
      </dgm:t>
    </dgm:pt>
    <dgm:pt modelId="{961199BD-7F4E-44DC-963D-8283675714F4}">
      <dgm:prSet custT="1"/>
      <dgm:spPr/>
      <dgm:t>
        <a:bodyPr/>
        <a:lstStyle/>
        <a:p>
          <a:r>
            <a:rPr lang="en-US" sz="1600" dirty="0">
              <a:latin typeface="Times New Roman" panose="02020603050405020304" pitchFamily="18" charset="0"/>
              <a:cs typeface="Times New Roman" panose="02020603050405020304" pitchFamily="18" charset="0"/>
            </a:rPr>
            <a:t>Data cleaning is done after creation of new features.</a:t>
          </a:r>
        </a:p>
      </dgm:t>
    </dgm:pt>
    <dgm:pt modelId="{ECD2BF80-0F96-401A-8B1D-DA968C2BC6AC}" type="parTrans" cxnId="{18F18B19-7791-4CCF-8C35-517DC9C500B3}">
      <dgm:prSet/>
      <dgm:spPr/>
      <dgm:t>
        <a:bodyPr/>
        <a:lstStyle/>
        <a:p>
          <a:endParaRPr lang="en-US"/>
        </a:p>
      </dgm:t>
    </dgm:pt>
    <dgm:pt modelId="{2E20461A-EB71-40BD-AADA-906FBF3857EE}" type="sibTrans" cxnId="{18F18B19-7791-4CCF-8C35-517DC9C500B3}">
      <dgm:prSet/>
      <dgm:spPr/>
      <dgm:t>
        <a:bodyPr/>
        <a:lstStyle/>
        <a:p>
          <a:endParaRPr lang="en-US"/>
        </a:p>
      </dgm:t>
    </dgm:pt>
    <dgm:pt modelId="{76C6CB56-C3DD-4909-8412-C4D5D958D216}">
      <dgm:prSet custT="1"/>
      <dgm:spPr/>
      <dgm:t>
        <a:bodyPr/>
        <a:lstStyle/>
        <a:p>
          <a:r>
            <a:rPr lang="en-US" sz="1400" dirty="0">
              <a:latin typeface="Times New Roman" panose="02020603050405020304" pitchFamily="18" charset="0"/>
              <a:cs typeface="Times New Roman" panose="02020603050405020304" pitchFamily="18" charset="0"/>
            </a:rPr>
            <a:t>Labelled column is created based on pm2.5 values.</a:t>
          </a:r>
        </a:p>
      </dgm:t>
    </dgm:pt>
    <dgm:pt modelId="{98AADBAC-611E-49BB-8972-49800A7B6AEF}" type="parTrans" cxnId="{76BB1B93-0B57-4035-815B-C8B14D49B0D9}">
      <dgm:prSet/>
      <dgm:spPr/>
      <dgm:t>
        <a:bodyPr/>
        <a:lstStyle/>
        <a:p>
          <a:endParaRPr lang="en-US"/>
        </a:p>
      </dgm:t>
    </dgm:pt>
    <dgm:pt modelId="{0C48B0DE-B499-4293-ACF3-379B304B81E6}" type="sibTrans" cxnId="{76BB1B93-0B57-4035-815B-C8B14D49B0D9}">
      <dgm:prSet/>
      <dgm:spPr/>
      <dgm:t>
        <a:bodyPr/>
        <a:lstStyle/>
        <a:p>
          <a:endParaRPr lang="en-US"/>
        </a:p>
      </dgm:t>
    </dgm:pt>
    <dgm:pt modelId="{824AF450-80D6-4E34-AE6A-75B399DB70AC}" type="pres">
      <dgm:prSet presAssocID="{20046281-D83D-448D-9E6C-65C1E07EB327}" presName="root" presStyleCnt="0">
        <dgm:presLayoutVars>
          <dgm:dir/>
          <dgm:resizeHandles val="exact"/>
        </dgm:presLayoutVars>
      </dgm:prSet>
      <dgm:spPr/>
    </dgm:pt>
    <dgm:pt modelId="{72FE033C-5563-419F-A317-042C1E0531FA}" type="pres">
      <dgm:prSet presAssocID="{B59AE1FF-7D48-446E-91AC-135F2247B40C}" presName="compNode" presStyleCnt="0"/>
      <dgm:spPr/>
    </dgm:pt>
    <dgm:pt modelId="{8CCB7017-C376-4B84-AAE2-0D4AD819D945}" type="pres">
      <dgm:prSet presAssocID="{B59AE1FF-7D48-446E-91AC-135F2247B40C}" presName="iconRect" presStyleLbl="node1" presStyleIdx="0" presStyleCnt="8"/>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isk"/>
        </a:ext>
      </dgm:extLst>
    </dgm:pt>
    <dgm:pt modelId="{631C21CF-B1FC-4C29-9D22-12B2AB1674CD}" type="pres">
      <dgm:prSet presAssocID="{B59AE1FF-7D48-446E-91AC-135F2247B40C}" presName="spaceRect" presStyleCnt="0"/>
      <dgm:spPr/>
    </dgm:pt>
    <dgm:pt modelId="{C013EBC7-E4EF-4B5C-97EB-6A43566DBBB1}" type="pres">
      <dgm:prSet presAssocID="{B59AE1FF-7D48-446E-91AC-135F2247B40C}" presName="textRect" presStyleLbl="revTx" presStyleIdx="0" presStyleCnt="8">
        <dgm:presLayoutVars>
          <dgm:chMax val="1"/>
          <dgm:chPref val="1"/>
        </dgm:presLayoutVars>
      </dgm:prSet>
      <dgm:spPr/>
    </dgm:pt>
    <dgm:pt modelId="{1466966A-F3D6-4310-8AB4-06668394B207}" type="pres">
      <dgm:prSet presAssocID="{FC185CDC-6891-44AA-A665-C9B3373668B3}" presName="sibTrans" presStyleCnt="0"/>
      <dgm:spPr/>
    </dgm:pt>
    <dgm:pt modelId="{7777E93D-EA44-4C3B-8720-1712EF50F921}" type="pres">
      <dgm:prSet presAssocID="{FECB502D-AC8E-4632-B383-A022DF601EBF}" presName="compNode" presStyleCnt="0"/>
      <dgm:spPr/>
    </dgm:pt>
    <dgm:pt modelId="{0C640C95-6FF3-4326-ADF4-FBABBCF2CCEC}" type="pres">
      <dgm:prSet presAssocID="{FECB502D-AC8E-4632-B383-A022DF601EBF}" presName="iconRect" presStyleLbl="node1" presStyleIdx="1" presStyleCnt="8"/>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Flowchart"/>
        </a:ext>
      </dgm:extLst>
    </dgm:pt>
    <dgm:pt modelId="{B1E4C597-87C1-4C86-ABC5-1CC7E4319539}" type="pres">
      <dgm:prSet presAssocID="{FECB502D-AC8E-4632-B383-A022DF601EBF}" presName="spaceRect" presStyleCnt="0"/>
      <dgm:spPr/>
    </dgm:pt>
    <dgm:pt modelId="{5108A2E5-BBD6-44CA-BFCE-D533DC741FC2}" type="pres">
      <dgm:prSet presAssocID="{FECB502D-AC8E-4632-B383-A022DF601EBF}" presName="textRect" presStyleLbl="revTx" presStyleIdx="1" presStyleCnt="8">
        <dgm:presLayoutVars>
          <dgm:chMax val="1"/>
          <dgm:chPref val="1"/>
        </dgm:presLayoutVars>
      </dgm:prSet>
      <dgm:spPr/>
    </dgm:pt>
    <dgm:pt modelId="{A7D42E8F-A7FF-430A-9EAD-97A4897DE824}" type="pres">
      <dgm:prSet presAssocID="{32BD3F73-BDA8-4FA7-8604-C787221AE5BF}" presName="sibTrans" presStyleCnt="0"/>
      <dgm:spPr/>
    </dgm:pt>
    <dgm:pt modelId="{60C9026D-B0ED-48ED-8AB1-EB63B74D28FE}" type="pres">
      <dgm:prSet presAssocID="{9C267F2B-851B-4910-8BBF-04A45DB72E60}" presName="compNode" presStyleCnt="0"/>
      <dgm:spPr/>
    </dgm:pt>
    <dgm:pt modelId="{720F1C60-CB3B-49E2-83F4-B683C6F67D76}" type="pres">
      <dgm:prSet presAssocID="{9C267F2B-851B-4910-8BBF-04A45DB72E60}" presName="iconRect" presStyleLbl="node1" presStyleIdx="2" presStyleCnt="8"/>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Open Folder"/>
        </a:ext>
      </dgm:extLst>
    </dgm:pt>
    <dgm:pt modelId="{954C4BB9-F70B-484A-900C-F26058496F09}" type="pres">
      <dgm:prSet presAssocID="{9C267F2B-851B-4910-8BBF-04A45DB72E60}" presName="spaceRect" presStyleCnt="0"/>
      <dgm:spPr/>
    </dgm:pt>
    <dgm:pt modelId="{10FFA477-5C1C-4FEF-B697-FA27AF7CF871}" type="pres">
      <dgm:prSet presAssocID="{9C267F2B-851B-4910-8BBF-04A45DB72E60}" presName="textRect" presStyleLbl="revTx" presStyleIdx="2" presStyleCnt="8">
        <dgm:presLayoutVars>
          <dgm:chMax val="1"/>
          <dgm:chPref val="1"/>
        </dgm:presLayoutVars>
      </dgm:prSet>
      <dgm:spPr/>
    </dgm:pt>
    <dgm:pt modelId="{BD51D5C7-FC04-45ED-8EA7-6CB46BDDBCF9}" type="pres">
      <dgm:prSet presAssocID="{68D6A9B9-A95F-4091-BA39-6B1743D8B42F}" presName="sibTrans" presStyleCnt="0"/>
      <dgm:spPr/>
    </dgm:pt>
    <dgm:pt modelId="{7D697685-7522-4C77-8851-3224B67BEFAD}" type="pres">
      <dgm:prSet presAssocID="{4ECEDEEE-9A52-4379-8FB7-279EA3F0F749}" presName="compNode" presStyleCnt="0"/>
      <dgm:spPr/>
    </dgm:pt>
    <dgm:pt modelId="{A1245447-B031-48C0-B069-A167867547C3}" type="pres">
      <dgm:prSet presAssocID="{4ECEDEEE-9A52-4379-8FB7-279EA3F0F749}" presName="iconRect" presStyleLbl="node1" presStyleIdx="3" presStyleCnt="8"/>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Database"/>
        </a:ext>
      </dgm:extLst>
    </dgm:pt>
    <dgm:pt modelId="{EDEE5B1F-479F-4B4C-AF94-796C6EDD0EC7}" type="pres">
      <dgm:prSet presAssocID="{4ECEDEEE-9A52-4379-8FB7-279EA3F0F749}" presName="spaceRect" presStyleCnt="0"/>
      <dgm:spPr/>
    </dgm:pt>
    <dgm:pt modelId="{189E3FA3-8BFA-4F98-87EB-A4CB2E2D6657}" type="pres">
      <dgm:prSet presAssocID="{4ECEDEEE-9A52-4379-8FB7-279EA3F0F749}" presName="textRect" presStyleLbl="revTx" presStyleIdx="3" presStyleCnt="8">
        <dgm:presLayoutVars>
          <dgm:chMax val="1"/>
          <dgm:chPref val="1"/>
        </dgm:presLayoutVars>
      </dgm:prSet>
      <dgm:spPr/>
    </dgm:pt>
    <dgm:pt modelId="{11E9B562-0B81-4BA4-A07C-B0758EED3D22}" type="pres">
      <dgm:prSet presAssocID="{C282F837-08F6-4BB4-B120-B19247A38FE1}" presName="sibTrans" presStyleCnt="0"/>
      <dgm:spPr/>
    </dgm:pt>
    <dgm:pt modelId="{639010B8-CCC7-4CCC-B4AC-BEF88558DF4A}" type="pres">
      <dgm:prSet presAssocID="{A8DFA9DA-3C70-412F-8C47-E43166BB003D}" presName="compNode" presStyleCnt="0"/>
      <dgm:spPr/>
    </dgm:pt>
    <dgm:pt modelId="{3DDB1DF1-8ADE-4FBF-A167-29D96600F52C}" type="pres">
      <dgm:prSet presAssocID="{A8DFA9DA-3C70-412F-8C47-E43166BB003D}" presName="iconRect" presStyleLbl="node1" presStyleIdx="4" presStyleCnt="8"/>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Table"/>
        </a:ext>
      </dgm:extLst>
    </dgm:pt>
    <dgm:pt modelId="{02962C36-BA1C-41F8-9A2E-7858EF6F74B8}" type="pres">
      <dgm:prSet presAssocID="{A8DFA9DA-3C70-412F-8C47-E43166BB003D}" presName="spaceRect" presStyleCnt="0"/>
      <dgm:spPr/>
    </dgm:pt>
    <dgm:pt modelId="{60CB4824-73D8-48D7-9AF1-7822EF4594E3}" type="pres">
      <dgm:prSet presAssocID="{A8DFA9DA-3C70-412F-8C47-E43166BB003D}" presName="textRect" presStyleLbl="revTx" presStyleIdx="4" presStyleCnt="8">
        <dgm:presLayoutVars>
          <dgm:chMax val="1"/>
          <dgm:chPref val="1"/>
        </dgm:presLayoutVars>
      </dgm:prSet>
      <dgm:spPr/>
    </dgm:pt>
    <dgm:pt modelId="{FBFF4C9A-1740-4316-9C6D-8AEB18B1290A}" type="pres">
      <dgm:prSet presAssocID="{8E8BA2AC-EBC0-4B3B-9992-3C3CB39DAFC1}" presName="sibTrans" presStyleCnt="0"/>
      <dgm:spPr/>
    </dgm:pt>
    <dgm:pt modelId="{D6F8B533-2D32-4B4E-BFC9-AEABC9BDEB2C}" type="pres">
      <dgm:prSet presAssocID="{FBC6F9E0-1D67-47D1-870E-B6403292B27D}" presName="compNode" presStyleCnt="0"/>
      <dgm:spPr/>
    </dgm:pt>
    <dgm:pt modelId="{5D6AC5E7-236E-49DF-A5BE-B334D3DC08D3}" type="pres">
      <dgm:prSet presAssocID="{FBC6F9E0-1D67-47D1-870E-B6403292B27D}" presName="iconRect" presStyleLbl="node1" presStyleIdx="5" presStyleCnt="8"/>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Workflow"/>
        </a:ext>
      </dgm:extLst>
    </dgm:pt>
    <dgm:pt modelId="{4BF6FECA-5A65-40AF-9D2D-C39370CB3557}" type="pres">
      <dgm:prSet presAssocID="{FBC6F9E0-1D67-47D1-870E-B6403292B27D}" presName="spaceRect" presStyleCnt="0"/>
      <dgm:spPr/>
    </dgm:pt>
    <dgm:pt modelId="{E2E6EF01-5D3C-4A10-9AF9-5838057C6AD9}" type="pres">
      <dgm:prSet presAssocID="{FBC6F9E0-1D67-47D1-870E-B6403292B27D}" presName="textRect" presStyleLbl="revTx" presStyleIdx="5" presStyleCnt="8">
        <dgm:presLayoutVars>
          <dgm:chMax val="1"/>
          <dgm:chPref val="1"/>
        </dgm:presLayoutVars>
      </dgm:prSet>
      <dgm:spPr/>
    </dgm:pt>
    <dgm:pt modelId="{A5A63203-24E5-4EB6-8B26-2B89392CE6EF}" type="pres">
      <dgm:prSet presAssocID="{2C8F4EF1-EB20-432F-90DD-D9158260ABC5}" presName="sibTrans" presStyleCnt="0"/>
      <dgm:spPr/>
    </dgm:pt>
    <dgm:pt modelId="{E1B5FACC-1C91-4C39-B493-B1EC8102BCAF}" type="pres">
      <dgm:prSet presAssocID="{961199BD-7F4E-44DC-963D-8283675714F4}" presName="compNode" presStyleCnt="0"/>
      <dgm:spPr/>
    </dgm:pt>
    <dgm:pt modelId="{A8B2F390-641F-4FC2-B5A0-3F5E47FE216E}" type="pres">
      <dgm:prSet presAssocID="{961199BD-7F4E-44DC-963D-8283675714F4}" presName="iconRect" presStyleLbl="node1" presStyleIdx="6" presStyleCnt="8"/>
      <dgm:spPr>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a:ln>
          <a:noFill/>
        </a:ln>
      </dgm:spPr>
      <dgm:extLst>
        <a:ext uri="{E40237B7-FDA0-4F09-8148-C483321AD2D9}">
          <dgm14:cNvPr xmlns:dgm14="http://schemas.microsoft.com/office/drawing/2010/diagram" id="0" name="" descr="Mop and bucket"/>
        </a:ext>
      </dgm:extLst>
    </dgm:pt>
    <dgm:pt modelId="{5EE8A26D-65BB-4E48-85E9-B51C87561346}" type="pres">
      <dgm:prSet presAssocID="{961199BD-7F4E-44DC-963D-8283675714F4}" presName="spaceRect" presStyleCnt="0"/>
      <dgm:spPr/>
    </dgm:pt>
    <dgm:pt modelId="{AC7DD16C-0303-45F1-B4F3-F55506BA53C9}" type="pres">
      <dgm:prSet presAssocID="{961199BD-7F4E-44DC-963D-8283675714F4}" presName="textRect" presStyleLbl="revTx" presStyleIdx="6" presStyleCnt="8">
        <dgm:presLayoutVars>
          <dgm:chMax val="1"/>
          <dgm:chPref val="1"/>
        </dgm:presLayoutVars>
      </dgm:prSet>
      <dgm:spPr/>
    </dgm:pt>
    <dgm:pt modelId="{3DC0ABD6-BDC7-4B54-81F9-58CE9038F76C}" type="pres">
      <dgm:prSet presAssocID="{2E20461A-EB71-40BD-AADA-906FBF3857EE}" presName="sibTrans" presStyleCnt="0"/>
      <dgm:spPr/>
    </dgm:pt>
    <dgm:pt modelId="{F4BC939C-69D6-4FF6-99C8-C7B7923CAFDE}" type="pres">
      <dgm:prSet presAssocID="{76C6CB56-C3DD-4909-8412-C4D5D958D216}" presName="compNode" presStyleCnt="0"/>
      <dgm:spPr/>
    </dgm:pt>
    <dgm:pt modelId="{86104549-AD07-4727-B4C3-8A2CC846D6CF}" type="pres">
      <dgm:prSet presAssocID="{76C6CB56-C3DD-4909-8412-C4D5D958D216}" presName="iconRect" presStyleLbl="node1" presStyleIdx="7" presStyleCnt="8"/>
      <dgm:spPr>
        <a:blipFill>
          <a:blip xmlns:r="http://schemas.openxmlformats.org/officeDocument/2006/relationships"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a:blipFill>
        <a:ln>
          <a:noFill/>
        </a:ln>
      </dgm:spPr>
      <dgm:extLst>
        <a:ext uri="{E40237B7-FDA0-4F09-8148-C483321AD2D9}">
          <dgm14:cNvPr xmlns:dgm14="http://schemas.microsoft.com/office/drawing/2010/diagram" id="0" name="" descr="Filter"/>
        </a:ext>
      </dgm:extLst>
    </dgm:pt>
    <dgm:pt modelId="{71AA247F-383B-490D-8577-02B0AD2371A4}" type="pres">
      <dgm:prSet presAssocID="{76C6CB56-C3DD-4909-8412-C4D5D958D216}" presName="spaceRect" presStyleCnt="0"/>
      <dgm:spPr/>
    </dgm:pt>
    <dgm:pt modelId="{55BC5913-9859-4715-9B27-127AEBB12025}" type="pres">
      <dgm:prSet presAssocID="{76C6CB56-C3DD-4909-8412-C4D5D958D216}" presName="textRect" presStyleLbl="revTx" presStyleIdx="7" presStyleCnt="8">
        <dgm:presLayoutVars>
          <dgm:chMax val="1"/>
          <dgm:chPref val="1"/>
        </dgm:presLayoutVars>
      </dgm:prSet>
      <dgm:spPr/>
    </dgm:pt>
  </dgm:ptLst>
  <dgm:cxnLst>
    <dgm:cxn modelId="{18F18B19-7791-4CCF-8C35-517DC9C500B3}" srcId="{20046281-D83D-448D-9E6C-65C1E07EB327}" destId="{961199BD-7F4E-44DC-963D-8283675714F4}" srcOrd="6" destOrd="0" parTransId="{ECD2BF80-0F96-401A-8B1D-DA968C2BC6AC}" sibTransId="{2E20461A-EB71-40BD-AADA-906FBF3857EE}"/>
    <dgm:cxn modelId="{CBBDC02F-2774-40EB-ACCA-C8C271C8AC24}" type="presOf" srcId="{B59AE1FF-7D48-446E-91AC-135F2247B40C}" destId="{C013EBC7-E4EF-4B5C-97EB-6A43566DBBB1}" srcOrd="0" destOrd="0" presId="urn:microsoft.com/office/officeart/2018/2/layout/IconLabelList"/>
    <dgm:cxn modelId="{87B8B232-7D38-4F31-8956-35724360DE92}" type="presOf" srcId="{4ECEDEEE-9A52-4379-8FB7-279EA3F0F749}" destId="{189E3FA3-8BFA-4F98-87EB-A4CB2E2D6657}" srcOrd="0" destOrd="0" presId="urn:microsoft.com/office/officeart/2018/2/layout/IconLabelList"/>
    <dgm:cxn modelId="{44539051-B9C8-455A-B0A9-76A2557BF561}" type="presOf" srcId="{20046281-D83D-448D-9E6C-65C1E07EB327}" destId="{824AF450-80D6-4E34-AE6A-75B399DB70AC}" srcOrd="0" destOrd="0" presId="urn:microsoft.com/office/officeart/2018/2/layout/IconLabelList"/>
    <dgm:cxn modelId="{0C14F152-D317-4D2A-BDA8-0369E7918DAD}" type="presOf" srcId="{76C6CB56-C3DD-4909-8412-C4D5D958D216}" destId="{55BC5913-9859-4715-9B27-127AEBB12025}" srcOrd="0" destOrd="0" presId="urn:microsoft.com/office/officeart/2018/2/layout/IconLabelList"/>
    <dgm:cxn modelId="{020B3B7C-5991-48BD-98A0-039FC3A49157}" type="presOf" srcId="{FECB502D-AC8E-4632-B383-A022DF601EBF}" destId="{5108A2E5-BBD6-44CA-BFCE-D533DC741FC2}" srcOrd="0" destOrd="0" presId="urn:microsoft.com/office/officeart/2018/2/layout/IconLabelList"/>
    <dgm:cxn modelId="{B63FF186-E42C-47F9-9185-6BB5DA272DEB}" srcId="{20046281-D83D-448D-9E6C-65C1E07EB327}" destId="{B59AE1FF-7D48-446E-91AC-135F2247B40C}" srcOrd="0" destOrd="0" parTransId="{57203AB6-D3D4-4933-98AA-5A97EEDE4338}" sibTransId="{FC185CDC-6891-44AA-A665-C9B3373668B3}"/>
    <dgm:cxn modelId="{8359338C-AE97-4625-81EB-DFB3A17578FC}" type="presOf" srcId="{A8DFA9DA-3C70-412F-8C47-E43166BB003D}" destId="{60CB4824-73D8-48D7-9AF1-7822EF4594E3}" srcOrd="0" destOrd="0" presId="urn:microsoft.com/office/officeart/2018/2/layout/IconLabelList"/>
    <dgm:cxn modelId="{76BB1B93-0B57-4035-815B-C8B14D49B0D9}" srcId="{20046281-D83D-448D-9E6C-65C1E07EB327}" destId="{76C6CB56-C3DD-4909-8412-C4D5D958D216}" srcOrd="7" destOrd="0" parTransId="{98AADBAC-611E-49BB-8972-49800A7B6AEF}" sibTransId="{0C48B0DE-B499-4293-ACF3-379B304B81E6}"/>
    <dgm:cxn modelId="{9D6773AE-B56E-43FD-999E-8CE10AE2FCD3}" type="presOf" srcId="{9C267F2B-851B-4910-8BBF-04A45DB72E60}" destId="{10FFA477-5C1C-4FEF-B697-FA27AF7CF871}" srcOrd="0" destOrd="0" presId="urn:microsoft.com/office/officeart/2018/2/layout/IconLabelList"/>
    <dgm:cxn modelId="{B0CFFEB4-776F-43B3-94CC-422F111FE110}" srcId="{20046281-D83D-448D-9E6C-65C1E07EB327}" destId="{FECB502D-AC8E-4632-B383-A022DF601EBF}" srcOrd="1" destOrd="0" parTransId="{6C40B8D4-9A68-4619-9EE2-83B44A69204D}" sibTransId="{32BD3F73-BDA8-4FA7-8604-C787221AE5BF}"/>
    <dgm:cxn modelId="{C9815FB7-A776-40F6-85EF-0FE17A6F5613}" type="presOf" srcId="{FBC6F9E0-1D67-47D1-870E-B6403292B27D}" destId="{E2E6EF01-5D3C-4A10-9AF9-5838057C6AD9}" srcOrd="0" destOrd="0" presId="urn:microsoft.com/office/officeart/2018/2/layout/IconLabelList"/>
    <dgm:cxn modelId="{D772FDBA-EE01-4D3B-BE39-83BE1FD74D3B}" srcId="{20046281-D83D-448D-9E6C-65C1E07EB327}" destId="{A8DFA9DA-3C70-412F-8C47-E43166BB003D}" srcOrd="4" destOrd="0" parTransId="{827B5A33-02BE-43B0-8888-1C1D7FC4B00E}" sibTransId="{8E8BA2AC-EBC0-4B3B-9992-3C3CB39DAFC1}"/>
    <dgm:cxn modelId="{A2E635C0-20F4-4FB8-8F81-75A7FCE59581}" srcId="{20046281-D83D-448D-9E6C-65C1E07EB327}" destId="{FBC6F9E0-1D67-47D1-870E-B6403292B27D}" srcOrd="5" destOrd="0" parTransId="{488EEF8C-E07F-4162-A3EF-6572F3379583}" sibTransId="{2C8F4EF1-EB20-432F-90DD-D9158260ABC5}"/>
    <dgm:cxn modelId="{3EB4EEC6-C93C-447F-8055-94E169CCB8C0}" type="presOf" srcId="{961199BD-7F4E-44DC-963D-8283675714F4}" destId="{AC7DD16C-0303-45F1-B4F3-F55506BA53C9}" srcOrd="0" destOrd="0" presId="urn:microsoft.com/office/officeart/2018/2/layout/IconLabelList"/>
    <dgm:cxn modelId="{090A66D2-9FAE-4508-BDD8-CEEF7696294C}" srcId="{20046281-D83D-448D-9E6C-65C1E07EB327}" destId="{9C267F2B-851B-4910-8BBF-04A45DB72E60}" srcOrd="2" destOrd="0" parTransId="{110171E2-1D07-4C27-A803-59DC30764810}" sibTransId="{68D6A9B9-A95F-4091-BA39-6B1743D8B42F}"/>
    <dgm:cxn modelId="{7EEB05D5-4932-4258-9C3B-0CBE20BDD251}" srcId="{20046281-D83D-448D-9E6C-65C1E07EB327}" destId="{4ECEDEEE-9A52-4379-8FB7-279EA3F0F749}" srcOrd="3" destOrd="0" parTransId="{6AB827C8-BF4F-4420-A21E-25522A91A966}" sibTransId="{C282F837-08F6-4BB4-B120-B19247A38FE1}"/>
    <dgm:cxn modelId="{0EBDDB2D-A1EA-4468-B242-0FBF3877F718}" type="presParOf" srcId="{824AF450-80D6-4E34-AE6A-75B399DB70AC}" destId="{72FE033C-5563-419F-A317-042C1E0531FA}" srcOrd="0" destOrd="0" presId="urn:microsoft.com/office/officeart/2018/2/layout/IconLabelList"/>
    <dgm:cxn modelId="{C243C5C2-EB6F-44A6-B5E9-70DCAAF04E7A}" type="presParOf" srcId="{72FE033C-5563-419F-A317-042C1E0531FA}" destId="{8CCB7017-C376-4B84-AAE2-0D4AD819D945}" srcOrd="0" destOrd="0" presId="urn:microsoft.com/office/officeart/2018/2/layout/IconLabelList"/>
    <dgm:cxn modelId="{EF45F6BE-EF42-4FE7-9C48-531FB6B85EDF}" type="presParOf" srcId="{72FE033C-5563-419F-A317-042C1E0531FA}" destId="{631C21CF-B1FC-4C29-9D22-12B2AB1674CD}" srcOrd="1" destOrd="0" presId="urn:microsoft.com/office/officeart/2018/2/layout/IconLabelList"/>
    <dgm:cxn modelId="{75D4EED4-8F25-4892-9510-1EFBAC270873}" type="presParOf" srcId="{72FE033C-5563-419F-A317-042C1E0531FA}" destId="{C013EBC7-E4EF-4B5C-97EB-6A43566DBBB1}" srcOrd="2" destOrd="0" presId="urn:microsoft.com/office/officeart/2018/2/layout/IconLabelList"/>
    <dgm:cxn modelId="{037FE853-741E-4C7F-8F18-FEA4284E3D4F}" type="presParOf" srcId="{824AF450-80D6-4E34-AE6A-75B399DB70AC}" destId="{1466966A-F3D6-4310-8AB4-06668394B207}" srcOrd="1" destOrd="0" presId="urn:microsoft.com/office/officeart/2018/2/layout/IconLabelList"/>
    <dgm:cxn modelId="{0510C011-EFDC-4144-AB18-96475CDF33AC}" type="presParOf" srcId="{824AF450-80D6-4E34-AE6A-75B399DB70AC}" destId="{7777E93D-EA44-4C3B-8720-1712EF50F921}" srcOrd="2" destOrd="0" presId="urn:microsoft.com/office/officeart/2018/2/layout/IconLabelList"/>
    <dgm:cxn modelId="{53C15FCD-83C8-4C0C-9BE2-1171C59650FF}" type="presParOf" srcId="{7777E93D-EA44-4C3B-8720-1712EF50F921}" destId="{0C640C95-6FF3-4326-ADF4-FBABBCF2CCEC}" srcOrd="0" destOrd="0" presId="urn:microsoft.com/office/officeart/2018/2/layout/IconLabelList"/>
    <dgm:cxn modelId="{BE646947-DEC7-4F01-B5DF-872FD4EA54FB}" type="presParOf" srcId="{7777E93D-EA44-4C3B-8720-1712EF50F921}" destId="{B1E4C597-87C1-4C86-ABC5-1CC7E4319539}" srcOrd="1" destOrd="0" presId="urn:microsoft.com/office/officeart/2018/2/layout/IconLabelList"/>
    <dgm:cxn modelId="{6251C4FE-24BA-42E5-8257-1A9065338ACE}" type="presParOf" srcId="{7777E93D-EA44-4C3B-8720-1712EF50F921}" destId="{5108A2E5-BBD6-44CA-BFCE-D533DC741FC2}" srcOrd="2" destOrd="0" presId="urn:microsoft.com/office/officeart/2018/2/layout/IconLabelList"/>
    <dgm:cxn modelId="{D55C4847-E84A-47A7-B2D4-FA2157B818A3}" type="presParOf" srcId="{824AF450-80D6-4E34-AE6A-75B399DB70AC}" destId="{A7D42E8F-A7FF-430A-9EAD-97A4897DE824}" srcOrd="3" destOrd="0" presId="urn:microsoft.com/office/officeart/2018/2/layout/IconLabelList"/>
    <dgm:cxn modelId="{9B04E211-803B-41AE-8831-198FB469DDF3}" type="presParOf" srcId="{824AF450-80D6-4E34-AE6A-75B399DB70AC}" destId="{60C9026D-B0ED-48ED-8AB1-EB63B74D28FE}" srcOrd="4" destOrd="0" presId="urn:microsoft.com/office/officeart/2018/2/layout/IconLabelList"/>
    <dgm:cxn modelId="{A029DF57-53D9-4F3D-9AEA-1E790DA8926C}" type="presParOf" srcId="{60C9026D-B0ED-48ED-8AB1-EB63B74D28FE}" destId="{720F1C60-CB3B-49E2-83F4-B683C6F67D76}" srcOrd="0" destOrd="0" presId="urn:microsoft.com/office/officeart/2018/2/layout/IconLabelList"/>
    <dgm:cxn modelId="{E1E20AD7-C8F3-47AA-99C0-50B3CBD75992}" type="presParOf" srcId="{60C9026D-B0ED-48ED-8AB1-EB63B74D28FE}" destId="{954C4BB9-F70B-484A-900C-F26058496F09}" srcOrd="1" destOrd="0" presId="urn:microsoft.com/office/officeart/2018/2/layout/IconLabelList"/>
    <dgm:cxn modelId="{46945B76-BF5D-43A5-A5FC-9EF7C4C57F0D}" type="presParOf" srcId="{60C9026D-B0ED-48ED-8AB1-EB63B74D28FE}" destId="{10FFA477-5C1C-4FEF-B697-FA27AF7CF871}" srcOrd="2" destOrd="0" presId="urn:microsoft.com/office/officeart/2018/2/layout/IconLabelList"/>
    <dgm:cxn modelId="{57C1ACC3-4CE5-4BF3-AA29-D40108E94739}" type="presParOf" srcId="{824AF450-80D6-4E34-AE6A-75B399DB70AC}" destId="{BD51D5C7-FC04-45ED-8EA7-6CB46BDDBCF9}" srcOrd="5" destOrd="0" presId="urn:microsoft.com/office/officeart/2018/2/layout/IconLabelList"/>
    <dgm:cxn modelId="{C614B551-6128-4675-8709-FE9F9301D99A}" type="presParOf" srcId="{824AF450-80D6-4E34-AE6A-75B399DB70AC}" destId="{7D697685-7522-4C77-8851-3224B67BEFAD}" srcOrd="6" destOrd="0" presId="urn:microsoft.com/office/officeart/2018/2/layout/IconLabelList"/>
    <dgm:cxn modelId="{7CD56459-D73A-4B67-A96A-EC7501CC02C8}" type="presParOf" srcId="{7D697685-7522-4C77-8851-3224B67BEFAD}" destId="{A1245447-B031-48C0-B069-A167867547C3}" srcOrd="0" destOrd="0" presId="urn:microsoft.com/office/officeart/2018/2/layout/IconLabelList"/>
    <dgm:cxn modelId="{186C98B2-8D67-4890-AD3A-EE947B5935E3}" type="presParOf" srcId="{7D697685-7522-4C77-8851-3224B67BEFAD}" destId="{EDEE5B1F-479F-4B4C-AF94-796C6EDD0EC7}" srcOrd="1" destOrd="0" presId="urn:microsoft.com/office/officeart/2018/2/layout/IconLabelList"/>
    <dgm:cxn modelId="{F321DA08-B48B-4990-BA9F-604C2366E89A}" type="presParOf" srcId="{7D697685-7522-4C77-8851-3224B67BEFAD}" destId="{189E3FA3-8BFA-4F98-87EB-A4CB2E2D6657}" srcOrd="2" destOrd="0" presId="urn:microsoft.com/office/officeart/2018/2/layout/IconLabelList"/>
    <dgm:cxn modelId="{B807544E-7BAC-4FA8-AF42-FF2BFD8CCBAC}" type="presParOf" srcId="{824AF450-80D6-4E34-AE6A-75B399DB70AC}" destId="{11E9B562-0B81-4BA4-A07C-B0758EED3D22}" srcOrd="7" destOrd="0" presId="urn:microsoft.com/office/officeart/2018/2/layout/IconLabelList"/>
    <dgm:cxn modelId="{93FBD91B-AA86-49DA-9ECB-BDCB55361AD0}" type="presParOf" srcId="{824AF450-80D6-4E34-AE6A-75B399DB70AC}" destId="{639010B8-CCC7-4CCC-B4AC-BEF88558DF4A}" srcOrd="8" destOrd="0" presId="urn:microsoft.com/office/officeart/2018/2/layout/IconLabelList"/>
    <dgm:cxn modelId="{F3E3F7E6-077A-4DB1-B7B1-6313054B647F}" type="presParOf" srcId="{639010B8-CCC7-4CCC-B4AC-BEF88558DF4A}" destId="{3DDB1DF1-8ADE-4FBF-A167-29D96600F52C}" srcOrd="0" destOrd="0" presId="urn:microsoft.com/office/officeart/2018/2/layout/IconLabelList"/>
    <dgm:cxn modelId="{13B6D516-B34D-4873-9433-6A948CA47161}" type="presParOf" srcId="{639010B8-CCC7-4CCC-B4AC-BEF88558DF4A}" destId="{02962C36-BA1C-41F8-9A2E-7858EF6F74B8}" srcOrd="1" destOrd="0" presId="urn:microsoft.com/office/officeart/2018/2/layout/IconLabelList"/>
    <dgm:cxn modelId="{C4F16E62-02D9-4550-AA08-317C6A2D295F}" type="presParOf" srcId="{639010B8-CCC7-4CCC-B4AC-BEF88558DF4A}" destId="{60CB4824-73D8-48D7-9AF1-7822EF4594E3}" srcOrd="2" destOrd="0" presId="urn:microsoft.com/office/officeart/2018/2/layout/IconLabelList"/>
    <dgm:cxn modelId="{C48C3DD5-470B-4A01-9581-EC086E19F60F}" type="presParOf" srcId="{824AF450-80D6-4E34-AE6A-75B399DB70AC}" destId="{FBFF4C9A-1740-4316-9C6D-8AEB18B1290A}" srcOrd="9" destOrd="0" presId="urn:microsoft.com/office/officeart/2018/2/layout/IconLabelList"/>
    <dgm:cxn modelId="{7E76638A-D61C-459F-B11E-CC2CC4F309CE}" type="presParOf" srcId="{824AF450-80D6-4E34-AE6A-75B399DB70AC}" destId="{D6F8B533-2D32-4B4E-BFC9-AEABC9BDEB2C}" srcOrd="10" destOrd="0" presId="urn:microsoft.com/office/officeart/2018/2/layout/IconLabelList"/>
    <dgm:cxn modelId="{4A0D5CAA-1069-48A5-BB21-E2444F8794EC}" type="presParOf" srcId="{D6F8B533-2D32-4B4E-BFC9-AEABC9BDEB2C}" destId="{5D6AC5E7-236E-49DF-A5BE-B334D3DC08D3}" srcOrd="0" destOrd="0" presId="urn:microsoft.com/office/officeart/2018/2/layout/IconLabelList"/>
    <dgm:cxn modelId="{0844D40D-E0CA-4179-9070-E722532835A1}" type="presParOf" srcId="{D6F8B533-2D32-4B4E-BFC9-AEABC9BDEB2C}" destId="{4BF6FECA-5A65-40AF-9D2D-C39370CB3557}" srcOrd="1" destOrd="0" presId="urn:microsoft.com/office/officeart/2018/2/layout/IconLabelList"/>
    <dgm:cxn modelId="{B5E5A01E-D370-4F2E-9401-713825C370B2}" type="presParOf" srcId="{D6F8B533-2D32-4B4E-BFC9-AEABC9BDEB2C}" destId="{E2E6EF01-5D3C-4A10-9AF9-5838057C6AD9}" srcOrd="2" destOrd="0" presId="urn:microsoft.com/office/officeart/2018/2/layout/IconLabelList"/>
    <dgm:cxn modelId="{4B4EA238-EAA1-4EE1-8822-7192C0D1F0F6}" type="presParOf" srcId="{824AF450-80D6-4E34-AE6A-75B399DB70AC}" destId="{A5A63203-24E5-4EB6-8B26-2B89392CE6EF}" srcOrd="11" destOrd="0" presId="urn:microsoft.com/office/officeart/2018/2/layout/IconLabelList"/>
    <dgm:cxn modelId="{2383EA18-0618-40A8-A0AD-356ADA5499D0}" type="presParOf" srcId="{824AF450-80D6-4E34-AE6A-75B399DB70AC}" destId="{E1B5FACC-1C91-4C39-B493-B1EC8102BCAF}" srcOrd="12" destOrd="0" presId="urn:microsoft.com/office/officeart/2018/2/layout/IconLabelList"/>
    <dgm:cxn modelId="{2583BAFA-AC0B-418D-887C-34FC762E2C76}" type="presParOf" srcId="{E1B5FACC-1C91-4C39-B493-B1EC8102BCAF}" destId="{A8B2F390-641F-4FC2-B5A0-3F5E47FE216E}" srcOrd="0" destOrd="0" presId="urn:microsoft.com/office/officeart/2018/2/layout/IconLabelList"/>
    <dgm:cxn modelId="{D43B420B-F942-430C-9FC2-7805A520ADC1}" type="presParOf" srcId="{E1B5FACC-1C91-4C39-B493-B1EC8102BCAF}" destId="{5EE8A26D-65BB-4E48-85E9-B51C87561346}" srcOrd="1" destOrd="0" presId="urn:microsoft.com/office/officeart/2018/2/layout/IconLabelList"/>
    <dgm:cxn modelId="{67AD6DF7-0B2A-4143-8945-91CC37532DE6}" type="presParOf" srcId="{E1B5FACC-1C91-4C39-B493-B1EC8102BCAF}" destId="{AC7DD16C-0303-45F1-B4F3-F55506BA53C9}" srcOrd="2" destOrd="0" presId="urn:microsoft.com/office/officeart/2018/2/layout/IconLabelList"/>
    <dgm:cxn modelId="{ABAC44C3-61CF-41A5-BD98-4B045A3A03E9}" type="presParOf" srcId="{824AF450-80D6-4E34-AE6A-75B399DB70AC}" destId="{3DC0ABD6-BDC7-4B54-81F9-58CE9038F76C}" srcOrd="13" destOrd="0" presId="urn:microsoft.com/office/officeart/2018/2/layout/IconLabelList"/>
    <dgm:cxn modelId="{02FA2458-B65A-4C56-B7AE-456BE03FDF6E}" type="presParOf" srcId="{824AF450-80D6-4E34-AE6A-75B399DB70AC}" destId="{F4BC939C-69D6-4FF6-99C8-C7B7923CAFDE}" srcOrd="14" destOrd="0" presId="urn:microsoft.com/office/officeart/2018/2/layout/IconLabelList"/>
    <dgm:cxn modelId="{07070EE2-D93D-49CB-8127-8290A50E0AD5}" type="presParOf" srcId="{F4BC939C-69D6-4FF6-99C8-C7B7923CAFDE}" destId="{86104549-AD07-4727-B4C3-8A2CC846D6CF}" srcOrd="0" destOrd="0" presId="urn:microsoft.com/office/officeart/2018/2/layout/IconLabelList"/>
    <dgm:cxn modelId="{07996A1A-523E-4E91-BCB5-7569D9A0A04D}" type="presParOf" srcId="{F4BC939C-69D6-4FF6-99C8-C7B7923CAFDE}" destId="{71AA247F-383B-490D-8577-02B0AD2371A4}" srcOrd="1" destOrd="0" presId="urn:microsoft.com/office/officeart/2018/2/layout/IconLabelList"/>
    <dgm:cxn modelId="{F570A409-21BB-4188-80BE-282984753CEE}" type="presParOf" srcId="{F4BC939C-69D6-4FF6-99C8-C7B7923CAFDE}" destId="{55BC5913-9859-4715-9B27-127AEBB12025}"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3709EDA-162A-48EA-9177-C15BBA8F5268}">
      <dsp:nvSpPr>
        <dsp:cNvPr id="0" name=""/>
        <dsp:cNvSpPr/>
      </dsp:nvSpPr>
      <dsp:spPr>
        <a:xfrm>
          <a:off x="76193" y="0"/>
          <a:ext cx="3005666" cy="4093482"/>
        </a:xfrm>
        <a:prstGeom prst="rect">
          <a:avLst/>
        </a:prstGeom>
        <a:solidFill>
          <a:schemeClr val="accent2">
            <a:tint val="40000"/>
            <a:alpha val="90000"/>
            <a:hueOff val="0"/>
            <a:satOff val="0"/>
            <a:lumOff val="0"/>
            <a:alphaOff val="0"/>
          </a:schemeClr>
        </a:solidFill>
        <a:ln w="19050" cap="rnd"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34333" tIns="330200" rIns="234333" bIns="330200" numCol="1" spcCol="1270" anchor="t" anchorCtr="0">
          <a:noAutofit/>
        </a:bodyPr>
        <a:lstStyle/>
        <a:p>
          <a:pPr marL="0" lvl="0" indent="0" algn="just" defTabSz="844550">
            <a:lnSpc>
              <a:spcPct val="90000"/>
            </a:lnSpc>
            <a:spcBef>
              <a:spcPct val="0"/>
            </a:spcBef>
            <a:spcAft>
              <a:spcPct val="35000"/>
            </a:spcAft>
            <a:buNone/>
          </a:pPr>
          <a:r>
            <a:rPr lang="en-US" sz="1900" kern="1200" dirty="0">
              <a:latin typeface="Times New Roman" panose="02020603050405020304" pitchFamily="18" charset="0"/>
              <a:cs typeface="Times New Roman" panose="02020603050405020304" pitchFamily="18" charset="0"/>
            </a:rPr>
            <a:t>The objective is to predict the daily air quality levels in a area in Los angels county based on past pm2.5 pollution data and weather information.</a:t>
          </a:r>
        </a:p>
      </dsp:txBody>
      <dsp:txXfrm>
        <a:off x="76193" y="1555523"/>
        <a:ext cx="3005666" cy="2456089"/>
      </dsp:txXfrm>
    </dsp:sp>
    <dsp:sp modelId="{7CFDFBEC-1EB0-484A-A7EA-8278A15568C5}">
      <dsp:nvSpPr>
        <dsp:cNvPr id="0" name=""/>
        <dsp:cNvSpPr/>
      </dsp:nvSpPr>
      <dsp:spPr>
        <a:xfrm>
          <a:off x="888810" y="409348"/>
          <a:ext cx="1228044" cy="1228044"/>
        </a:xfrm>
        <a:prstGeom prst="ellipse">
          <a:avLst/>
        </a:prstGeom>
        <a:solidFill>
          <a:schemeClr val="accent2">
            <a:hueOff val="0"/>
            <a:satOff val="0"/>
            <a:lumOff val="0"/>
            <a:alphaOff val="0"/>
          </a:schemeClr>
        </a:solidFill>
        <a:ln w="19050" cap="rnd"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743" tIns="12700" rIns="95743" bIns="12700" numCol="1" spcCol="1270" anchor="ctr" anchorCtr="0">
          <a:noAutofit/>
        </a:bodyPr>
        <a:lstStyle/>
        <a:p>
          <a:pPr marL="0" lvl="0" indent="0" algn="ctr" defTabSz="2133600">
            <a:lnSpc>
              <a:spcPct val="90000"/>
            </a:lnSpc>
            <a:spcBef>
              <a:spcPct val="0"/>
            </a:spcBef>
            <a:spcAft>
              <a:spcPct val="35000"/>
            </a:spcAft>
            <a:buNone/>
          </a:pPr>
          <a:r>
            <a:rPr lang="en-US" sz="4800" kern="1200"/>
            <a:t>1</a:t>
          </a:r>
        </a:p>
      </dsp:txBody>
      <dsp:txXfrm>
        <a:off x="1068653" y="589191"/>
        <a:ext cx="868358" cy="868358"/>
      </dsp:txXfrm>
    </dsp:sp>
    <dsp:sp modelId="{0619881F-C673-40EA-8C25-4F14CBA7EA6C}">
      <dsp:nvSpPr>
        <dsp:cNvPr id="0" name=""/>
        <dsp:cNvSpPr/>
      </dsp:nvSpPr>
      <dsp:spPr>
        <a:xfrm>
          <a:off x="0" y="4093410"/>
          <a:ext cx="3005666" cy="72"/>
        </a:xfrm>
        <a:prstGeom prst="rect">
          <a:avLst/>
        </a:prstGeom>
        <a:solidFill>
          <a:schemeClr val="accent2">
            <a:hueOff val="-592857"/>
            <a:satOff val="2840"/>
            <a:lumOff val="2627"/>
            <a:alphaOff val="0"/>
          </a:schemeClr>
        </a:solidFill>
        <a:ln w="19050" cap="rnd" cmpd="sng" algn="ctr">
          <a:solidFill>
            <a:schemeClr val="accent2">
              <a:hueOff val="-592857"/>
              <a:satOff val="2840"/>
              <a:lumOff val="2627"/>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081D01C-9741-4A94-86FE-137F00BD516C}">
      <dsp:nvSpPr>
        <dsp:cNvPr id="0" name=""/>
        <dsp:cNvSpPr/>
      </dsp:nvSpPr>
      <dsp:spPr>
        <a:xfrm>
          <a:off x="3306233" y="0"/>
          <a:ext cx="3005666" cy="4093482"/>
        </a:xfrm>
        <a:prstGeom prst="rect">
          <a:avLst/>
        </a:prstGeom>
        <a:solidFill>
          <a:schemeClr val="accent2">
            <a:tint val="40000"/>
            <a:alpha val="90000"/>
            <a:hueOff val="-2045920"/>
            <a:satOff val="22554"/>
            <a:lumOff val="2148"/>
            <a:alphaOff val="0"/>
          </a:schemeClr>
        </a:solidFill>
        <a:ln w="19050" cap="rnd" cmpd="sng" algn="ctr">
          <a:solidFill>
            <a:schemeClr val="accent2">
              <a:tint val="40000"/>
              <a:alpha val="90000"/>
              <a:hueOff val="-2045920"/>
              <a:satOff val="22554"/>
              <a:lumOff val="2148"/>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34333" tIns="330200" rIns="234333" bIns="330200" numCol="1" spcCol="1270" anchor="t" anchorCtr="0">
          <a:noAutofit/>
        </a:bodyPr>
        <a:lstStyle/>
        <a:p>
          <a:pPr marL="0" lvl="0" indent="0" algn="just" defTabSz="844550">
            <a:lnSpc>
              <a:spcPct val="90000"/>
            </a:lnSpc>
            <a:spcBef>
              <a:spcPct val="0"/>
            </a:spcBef>
            <a:spcAft>
              <a:spcPct val="35000"/>
            </a:spcAft>
            <a:buNone/>
          </a:pPr>
          <a:r>
            <a:rPr lang="en-US" sz="1900" kern="1200" dirty="0">
              <a:latin typeface="Times New Roman" panose="02020603050405020304" pitchFamily="18" charset="0"/>
              <a:cs typeface="Times New Roman" panose="02020603050405020304" pitchFamily="18" charset="0"/>
            </a:rPr>
            <a:t>Need for a more rapid and more scalable approach for forecasting than the traditional methods.</a:t>
          </a:r>
        </a:p>
      </dsp:txBody>
      <dsp:txXfrm>
        <a:off x="3306233" y="1555523"/>
        <a:ext cx="3005666" cy="2456089"/>
      </dsp:txXfrm>
    </dsp:sp>
    <dsp:sp modelId="{CE841E01-8504-45BA-BF7D-9D8B40DC5C85}">
      <dsp:nvSpPr>
        <dsp:cNvPr id="0" name=""/>
        <dsp:cNvSpPr/>
      </dsp:nvSpPr>
      <dsp:spPr>
        <a:xfrm>
          <a:off x="4195044" y="409348"/>
          <a:ext cx="1228044" cy="1228044"/>
        </a:xfrm>
        <a:prstGeom prst="ellipse">
          <a:avLst/>
        </a:prstGeom>
        <a:solidFill>
          <a:schemeClr val="accent2">
            <a:hueOff val="-1185714"/>
            <a:satOff val="5680"/>
            <a:lumOff val="5255"/>
            <a:alphaOff val="0"/>
          </a:schemeClr>
        </a:solidFill>
        <a:ln w="19050" cap="rnd" cmpd="sng" algn="ctr">
          <a:solidFill>
            <a:schemeClr val="accent2">
              <a:hueOff val="-1185714"/>
              <a:satOff val="5680"/>
              <a:lumOff val="5255"/>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743" tIns="12700" rIns="95743" bIns="12700" numCol="1" spcCol="1270" anchor="ctr" anchorCtr="0">
          <a:noAutofit/>
        </a:bodyPr>
        <a:lstStyle/>
        <a:p>
          <a:pPr marL="0" lvl="0" indent="0" algn="ctr" defTabSz="2133600">
            <a:lnSpc>
              <a:spcPct val="90000"/>
            </a:lnSpc>
            <a:spcBef>
              <a:spcPct val="0"/>
            </a:spcBef>
            <a:spcAft>
              <a:spcPct val="35000"/>
            </a:spcAft>
            <a:buNone/>
          </a:pPr>
          <a:r>
            <a:rPr lang="en-US" sz="4800" kern="1200"/>
            <a:t>2</a:t>
          </a:r>
        </a:p>
      </dsp:txBody>
      <dsp:txXfrm>
        <a:off x="4374887" y="589191"/>
        <a:ext cx="868358" cy="868358"/>
      </dsp:txXfrm>
    </dsp:sp>
    <dsp:sp modelId="{DFF9CE6A-77B2-4F0F-A534-25F0A159565B}">
      <dsp:nvSpPr>
        <dsp:cNvPr id="0" name=""/>
        <dsp:cNvSpPr/>
      </dsp:nvSpPr>
      <dsp:spPr>
        <a:xfrm>
          <a:off x="3306233" y="4093410"/>
          <a:ext cx="3005666" cy="72"/>
        </a:xfrm>
        <a:prstGeom prst="rect">
          <a:avLst/>
        </a:prstGeom>
        <a:solidFill>
          <a:schemeClr val="accent2">
            <a:hueOff val="-1778572"/>
            <a:satOff val="8520"/>
            <a:lumOff val="7882"/>
            <a:alphaOff val="0"/>
          </a:schemeClr>
        </a:solidFill>
        <a:ln w="19050" cap="rnd" cmpd="sng" algn="ctr">
          <a:solidFill>
            <a:schemeClr val="accent2">
              <a:hueOff val="-1778572"/>
              <a:satOff val="8520"/>
              <a:lumOff val="7882"/>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66F8282-BA75-4BAC-B8E5-777FA09393AA}">
      <dsp:nvSpPr>
        <dsp:cNvPr id="0" name=""/>
        <dsp:cNvSpPr/>
      </dsp:nvSpPr>
      <dsp:spPr>
        <a:xfrm>
          <a:off x="6612466" y="0"/>
          <a:ext cx="3005666" cy="4093482"/>
        </a:xfrm>
        <a:prstGeom prst="rect">
          <a:avLst/>
        </a:prstGeom>
        <a:solidFill>
          <a:schemeClr val="accent2">
            <a:tint val="40000"/>
            <a:alpha val="90000"/>
            <a:hueOff val="-4091839"/>
            <a:satOff val="45107"/>
            <a:lumOff val="4296"/>
            <a:alphaOff val="0"/>
          </a:schemeClr>
        </a:solidFill>
        <a:ln w="19050" cap="rnd" cmpd="sng" algn="ctr">
          <a:solidFill>
            <a:schemeClr val="accent2">
              <a:tint val="40000"/>
              <a:alpha val="90000"/>
              <a:hueOff val="-4091839"/>
              <a:satOff val="45107"/>
              <a:lumOff val="4296"/>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34333" tIns="330200" rIns="234333" bIns="330200" numCol="1" spcCol="1270" anchor="t" anchorCtr="0">
          <a:noAutofit/>
        </a:bodyPr>
        <a:lstStyle/>
        <a:p>
          <a:pPr marL="0" lvl="0" indent="0" algn="ctr" defTabSz="844550">
            <a:lnSpc>
              <a:spcPct val="90000"/>
            </a:lnSpc>
            <a:spcBef>
              <a:spcPct val="0"/>
            </a:spcBef>
            <a:spcAft>
              <a:spcPct val="35000"/>
            </a:spcAft>
            <a:buNone/>
          </a:pPr>
          <a:r>
            <a:rPr lang="en-US" sz="1900" kern="1200" dirty="0">
              <a:latin typeface="Times New Roman" panose="02020603050405020304" pitchFamily="18" charset="0"/>
              <a:cs typeface="Times New Roman" panose="02020603050405020304" pitchFamily="18" charset="0"/>
            </a:rPr>
            <a:t>Accurate classification will result in timely public health alerts and better urban environmental management.</a:t>
          </a:r>
        </a:p>
      </dsp:txBody>
      <dsp:txXfrm>
        <a:off x="6612466" y="1555523"/>
        <a:ext cx="3005666" cy="2456089"/>
      </dsp:txXfrm>
    </dsp:sp>
    <dsp:sp modelId="{D5A767A7-30E5-4B11-909B-0404D4D171EC}">
      <dsp:nvSpPr>
        <dsp:cNvPr id="0" name=""/>
        <dsp:cNvSpPr/>
      </dsp:nvSpPr>
      <dsp:spPr>
        <a:xfrm>
          <a:off x="7501277" y="409348"/>
          <a:ext cx="1228044" cy="1228044"/>
        </a:xfrm>
        <a:prstGeom prst="ellipse">
          <a:avLst/>
        </a:prstGeom>
        <a:solidFill>
          <a:schemeClr val="accent2">
            <a:hueOff val="-2371429"/>
            <a:satOff val="11360"/>
            <a:lumOff val="10510"/>
            <a:alphaOff val="0"/>
          </a:schemeClr>
        </a:solidFill>
        <a:ln w="19050" cap="rnd" cmpd="sng" algn="ctr">
          <a:solidFill>
            <a:schemeClr val="accent2">
              <a:hueOff val="-2371429"/>
              <a:satOff val="11360"/>
              <a:lumOff val="1051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743" tIns="12700" rIns="95743" bIns="12700" numCol="1" spcCol="1270" anchor="ctr" anchorCtr="0">
          <a:noAutofit/>
        </a:bodyPr>
        <a:lstStyle/>
        <a:p>
          <a:pPr marL="0" lvl="0" indent="0" algn="ctr" defTabSz="2133600">
            <a:lnSpc>
              <a:spcPct val="90000"/>
            </a:lnSpc>
            <a:spcBef>
              <a:spcPct val="0"/>
            </a:spcBef>
            <a:spcAft>
              <a:spcPct val="35000"/>
            </a:spcAft>
            <a:buNone/>
          </a:pPr>
          <a:r>
            <a:rPr lang="en-US" sz="4800" kern="1200"/>
            <a:t>3</a:t>
          </a:r>
        </a:p>
      </dsp:txBody>
      <dsp:txXfrm>
        <a:off x="7681120" y="589191"/>
        <a:ext cx="868358" cy="868358"/>
      </dsp:txXfrm>
    </dsp:sp>
    <dsp:sp modelId="{8F6EC730-D02B-42CF-8DB1-C5B608821951}">
      <dsp:nvSpPr>
        <dsp:cNvPr id="0" name=""/>
        <dsp:cNvSpPr/>
      </dsp:nvSpPr>
      <dsp:spPr>
        <a:xfrm>
          <a:off x="6612466" y="4093410"/>
          <a:ext cx="3005666" cy="72"/>
        </a:xfrm>
        <a:prstGeom prst="rect">
          <a:avLst/>
        </a:prstGeom>
        <a:solidFill>
          <a:schemeClr val="accent2">
            <a:hueOff val="-2964286"/>
            <a:satOff val="14200"/>
            <a:lumOff val="13137"/>
            <a:alphaOff val="0"/>
          </a:schemeClr>
        </a:solidFill>
        <a:ln w="19050" cap="rnd" cmpd="sng" algn="ctr">
          <a:solidFill>
            <a:schemeClr val="accent2">
              <a:hueOff val="-2964286"/>
              <a:satOff val="14200"/>
              <a:lumOff val="13137"/>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19D69EF-11E5-47AA-9E8D-3FE765A7D0C6}">
      <dsp:nvSpPr>
        <dsp:cNvPr id="0" name=""/>
        <dsp:cNvSpPr/>
      </dsp:nvSpPr>
      <dsp:spPr>
        <a:xfrm>
          <a:off x="920893" y="676761"/>
          <a:ext cx="1249769" cy="124976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04107E92-DB5E-4669-96EA-410BBB80D7AF}">
      <dsp:nvSpPr>
        <dsp:cNvPr id="0" name=""/>
        <dsp:cNvSpPr/>
      </dsp:nvSpPr>
      <dsp:spPr>
        <a:xfrm>
          <a:off x="157144" y="2398022"/>
          <a:ext cx="2777266" cy="14210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just"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PM2.5 air quality forecasting is necessary in order to safeguard public health in urban areas</a:t>
          </a:r>
          <a:r>
            <a:rPr lang="en-US" sz="1600" kern="1200" dirty="0">
              <a:latin typeface="Times New Roman" panose="02020603050405020304" pitchFamily="18" charset="0"/>
              <a:cs typeface="Times New Roman" panose="02020603050405020304" pitchFamily="18" charset="0"/>
            </a:rPr>
            <a:t>.</a:t>
          </a:r>
        </a:p>
      </dsp:txBody>
      <dsp:txXfrm>
        <a:off x="157144" y="2398022"/>
        <a:ext cx="2777266" cy="1421015"/>
      </dsp:txXfrm>
    </dsp:sp>
    <dsp:sp modelId="{3C94049F-AEED-4740-AD41-3423CACAFA3B}">
      <dsp:nvSpPr>
        <dsp:cNvPr id="0" name=""/>
        <dsp:cNvSpPr/>
      </dsp:nvSpPr>
      <dsp:spPr>
        <a:xfrm>
          <a:off x="4184181" y="676761"/>
          <a:ext cx="1249769" cy="124976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B4C5DE9E-F570-4D8A-9F15-73A9835AB45B}">
      <dsp:nvSpPr>
        <dsp:cNvPr id="0" name=""/>
        <dsp:cNvSpPr/>
      </dsp:nvSpPr>
      <dsp:spPr>
        <a:xfrm>
          <a:off x="3420433" y="2398022"/>
          <a:ext cx="2777266" cy="14210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just" defTabSz="800100">
            <a:lnSpc>
              <a:spcPct val="90000"/>
            </a:lnSpc>
            <a:spcBef>
              <a:spcPct val="0"/>
            </a:spcBef>
            <a:spcAft>
              <a:spcPct val="35000"/>
            </a:spcAft>
            <a:buNone/>
          </a:pPr>
          <a:r>
            <a:rPr lang="en-US" sz="1800" kern="1200" dirty="0">
              <a:latin typeface="Times New Roman" panose="02020603050405020304" pitchFamily="18" charset="0"/>
              <a:cs typeface="Times New Roman" panose="02020603050405020304" pitchFamily="18" charset="0"/>
            </a:rPr>
            <a:t>Similar forecasting is also carried out by other big organizations like the EPA, NOAA, and private agencies.</a:t>
          </a:r>
        </a:p>
      </dsp:txBody>
      <dsp:txXfrm>
        <a:off x="3420433" y="2398022"/>
        <a:ext cx="2777266" cy="1421015"/>
      </dsp:txXfrm>
    </dsp:sp>
    <dsp:sp modelId="{585CB721-C880-451C-8FDD-CA990C60E2F1}">
      <dsp:nvSpPr>
        <dsp:cNvPr id="0" name=""/>
        <dsp:cNvSpPr/>
      </dsp:nvSpPr>
      <dsp:spPr>
        <a:xfrm>
          <a:off x="7447469" y="676761"/>
          <a:ext cx="1249769" cy="124976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67F25EDB-B18D-4962-9243-AFB60696BB52}">
      <dsp:nvSpPr>
        <dsp:cNvPr id="0" name=""/>
        <dsp:cNvSpPr/>
      </dsp:nvSpPr>
      <dsp:spPr>
        <a:xfrm>
          <a:off x="6683721" y="2398022"/>
          <a:ext cx="2777266" cy="14210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just" defTabSz="800100">
            <a:lnSpc>
              <a:spcPct val="90000"/>
            </a:lnSpc>
            <a:spcBef>
              <a:spcPct val="0"/>
            </a:spcBef>
            <a:spcAft>
              <a:spcPct val="35000"/>
            </a:spcAft>
            <a:buNone/>
          </a:pPr>
          <a:r>
            <a:rPr lang="en-US" sz="1800" kern="1200" dirty="0">
              <a:latin typeface="Times New Roman" panose="02020603050405020304" pitchFamily="18" charset="0"/>
              <a:cs typeface="Times New Roman" panose="02020603050405020304" pitchFamily="18" charset="0"/>
            </a:rPr>
            <a:t>This project creates a light, accurate machine learning model that forecasts air quality into actionable ranges based on past pm2.5 pollution and weather data.</a:t>
          </a:r>
        </a:p>
      </dsp:txBody>
      <dsp:txXfrm>
        <a:off x="6683721" y="2398022"/>
        <a:ext cx="2777266" cy="142101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D5957D6-F88D-447F-B3C8-DC3423E25B28}">
      <dsp:nvSpPr>
        <dsp:cNvPr id="0" name=""/>
        <dsp:cNvSpPr/>
      </dsp:nvSpPr>
      <dsp:spPr>
        <a:xfrm>
          <a:off x="0" y="626250"/>
          <a:ext cx="6628804" cy="895050"/>
        </a:xfrm>
        <a:prstGeom prst="roundRect">
          <a:avLst/>
        </a:prstGeom>
        <a:gradFill rotWithShape="0">
          <a:gsLst>
            <a:gs pos="0">
              <a:schemeClr val="accent2">
                <a:hueOff val="0"/>
                <a:satOff val="0"/>
                <a:lumOff val="0"/>
                <a:alphaOff val="0"/>
                <a:tint val="96000"/>
                <a:lumMod val="100000"/>
              </a:schemeClr>
            </a:gs>
            <a:gs pos="78000">
              <a:schemeClr val="accent2">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dirty="0">
              <a:latin typeface="Times New Roman" panose="02020603050405020304" pitchFamily="18" charset="0"/>
              <a:cs typeface="Times New Roman" panose="02020603050405020304" pitchFamily="18" charset="0"/>
            </a:rPr>
            <a:t>PM2.5 stands for the Particulate matter that is 2.5 micrometers or smaller in diameter. This means the particles are 30 times smaller than the hair of the human. </a:t>
          </a:r>
        </a:p>
      </dsp:txBody>
      <dsp:txXfrm>
        <a:off x="43693" y="669943"/>
        <a:ext cx="6541418" cy="807664"/>
      </dsp:txXfrm>
    </dsp:sp>
    <dsp:sp modelId="{A6FA1A1A-CE71-4D56-91C6-10BA2825A93A}">
      <dsp:nvSpPr>
        <dsp:cNvPr id="0" name=""/>
        <dsp:cNvSpPr/>
      </dsp:nvSpPr>
      <dsp:spPr>
        <a:xfrm>
          <a:off x="0" y="1570260"/>
          <a:ext cx="6628804" cy="895050"/>
        </a:xfrm>
        <a:prstGeom prst="roundRect">
          <a:avLst/>
        </a:prstGeom>
        <a:gradFill rotWithShape="0">
          <a:gsLst>
            <a:gs pos="0">
              <a:schemeClr val="accent2">
                <a:hueOff val="-988095"/>
                <a:satOff val="4733"/>
                <a:lumOff val="4379"/>
                <a:alphaOff val="0"/>
                <a:tint val="96000"/>
                <a:lumMod val="100000"/>
              </a:schemeClr>
            </a:gs>
            <a:gs pos="78000">
              <a:schemeClr val="accent2">
                <a:hueOff val="-988095"/>
                <a:satOff val="4733"/>
                <a:lumOff val="4379"/>
                <a:alphaOff val="0"/>
                <a:shade val="94000"/>
                <a:lumMod val="94000"/>
              </a:schemeClr>
            </a:gs>
          </a:gsLst>
          <a:lin ang="5400000" scaled="0"/>
        </a:gradFill>
        <a:ln>
          <a:noFill/>
        </a:ln>
        <a:effectLst>
          <a:outerShdw blurRad="38100" dist="254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dirty="0">
              <a:latin typeface="Times New Roman" panose="02020603050405020304" pitchFamily="18" charset="0"/>
              <a:cs typeface="Times New Roman" panose="02020603050405020304" pitchFamily="18" charset="0"/>
            </a:rPr>
            <a:t>These particles are made up of the dust , smoke, liquid droplets etc.</a:t>
          </a:r>
        </a:p>
      </dsp:txBody>
      <dsp:txXfrm>
        <a:off x="43693" y="1613953"/>
        <a:ext cx="6541418" cy="807664"/>
      </dsp:txXfrm>
    </dsp:sp>
    <dsp:sp modelId="{8870DA6C-2C0B-40EA-A4F6-98A043DAA46E}">
      <dsp:nvSpPr>
        <dsp:cNvPr id="0" name=""/>
        <dsp:cNvSpPr/>
      </dsp:nvSpPr>
      <dsp:spPr>
        <a:xfrm>
          <a:off x="0" y="2514270"/>
          <a:ext cx="6628804" cy="895050"/>
        </a:xfrm>
        <a:prstGeom prst="roundRect">
          <a:avLst/>
        </a:prstGeom>
        <a:gradFill rotWithShape="0">
          <a:gsLst>
            <a:gs pos="0">
              <a:schemeClr val="accent2">
                <a:hueOff val="-1976191"/>
                <a:satOff val="9467"/>
                <a:lumOff val="8758"/>
                <a:alphaOff val="0"/>
                <a:tint val="96000"/>
                <a:lumMod val="100000"/>
              </a:schemeClr>
            </a:gs>
            <a:gs pos="78000">
              <a:schemeClr val="accent2">
                <a:hueOff val="-1976191"/>
                <a:satOff val="9467"/>
                <a:lumOff val="8758"/>
                <a:alphaOff val="0"/>
                <a:shade val="94000"/>
                <a:lumMod val="94000"/>
              </a:schemeClr>
            </a:gs>
          </a:gsLst>
          <a:lin ang="5400000" scaled="0"/>
        </a:gradFill>
        <a:ln>
          <a:noFill/>
        </a:ln>
        <a:effectLst>
          <a:outerShdw blurRad="38100" dist="254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just" defTabSz="755650">
            <a:lnSpc>
              <a:spcPct val="90000"/>
            </a:lnSpc>
            <a:spcBef>
              <a:spcPct val="0"/>
            </a:spcBef>
            <a:spcAft>
              <a:spcPct val="35000"/>
            </a:spcAft>
            <a:buNone/>
          </a:pPr>
          <a:r>
            <a:rPr lang="en-US" sz="1700" kern="1200" dirty="0">
              <a:latin typeface="Times New Roman" panose="02020603050405020304" pitchFamily="18" charset="0"/>
              <a:cs typeface="Times New Roman" panose="02020603050405020304" pitchFamily="18" charset="0"/>
            </a:rPr>
            <a:t>If PM2.5 presents in the air it can penetrate deep into the lungs and if there is possibility it can enter into the bloodstream too causing unhealthy conditions like asthma, heart disease and respiratory infections.</a:t>
          </a:r>
        </a:p>
      </dsp:txBody>
      <dsp:txXfrm>
        <a:off x="43693" y="2557963"/>
        <a:ext cx="6541418" cy="807664"/>
      </dsp:txXfrm>
    </dsp:sp>
    <dsp:sp modelId="{558546E0-9923-405D-B746-9844CF515E4B}">
      <dsp:nvSpPr>
        <dsp:cNvPr id="0" name=""/>
        <dsp:cNvSpPr/>
      </dsp:nvSpPr>
      <dsp:spPr>
        <a:xfrm>
          <a:off x="0" y="3458280"/>
          <a:ext cx="6628804" cy="895050"/>
        </a:xfrm>
        <a:prstGeom prst="roundRect">
          <a:avLst/>
        </a:prstGeom>
        <a:gradFill rotWithShape="0">
          <a:gsLst>
            <a:gs pos="0">
              <a:schemeClr val="accent2">
                <a:hueOff val="-2964286"/>
                <a:satOff val="14200"/>
                <a:lumOff val="13137"/>
                <a:alphaOff val="0"/>
                <a:tint val="96000"/>
                <a:lumMod val="100000"/>
              </a:schemeClr>
            </a:gs>
            <a:gs pos="78000">
              <a:schemeClr val="accent2">
                <a:hueOff val="-2964286"/>
                <a:satOff val="14200"/>
                <a:lumOff val="13137"/>
                <a:alphaOff val="0"/>
                <a:shade val="94000"/>
                <a:lumMod val="94000"/>
              </a:schemeClr>
            </a:gs>
          </a:gsLst>
          <a:lin ang="5400000" scaled="0"/>
        </a:gradFill>
        <a:ln>
          <a:noFill/>
        </a:ln>
        <a:effectLst>
          <a:outerShdw blurRad="38100" dist="254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just" defTabSz="755650">
            <a:lnSpc>
              <a:spcPct val="90000"/>
            </a:lnSpc>
            <a:spcBef>
              <a:spcPct val="0"/>
            </a:spcBef>
            <a:spcAft>
              <a:spcPct val="35000"/>
            </a:spcAft>
            <a:buNone/>
          </a:pPr>
          <a:r>
            <a:rPr lang="en-US" sz="1700" kern="1200" dirty="0">
              <a:latin typeface="Times New Roman" panose="02020603050405020304" pitchFamily="18" charset="0"/>
              <a:cs typeface="Times New Roman" panose="02020603050405020304" pitchFamily="18" charset="0"/>
            </a:rPr>
            <a:t>So it is mainly dependent on the weather conditions. So we are taking temperature, precipitation, visibility and pm2.5 daily data as features to predict the air quality.</a:t>
          </a:r>
        </a:p>
      </dsp:txBody>
      <dsp:txXfrm>
        <a:off x="43693" y="3501973"/>
        <a:ext cx="6541418" cy="80766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B9638D8-8B89-4EF5-838B-1EE5DF4113C3}">
      <dsp:nvSpPr>
        <dsp:cNvPr id="0" name=""/>
        <dsp:cNvSpPr/>
      </dsp:nvSpPr>
      <dsp:spPr>
        <a:xfrm>
          <a:off x="0" y="499"/>
          <a:ext cx="9618133" cy="1169280"/>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CED224A-38ED-4500-9A6E-D4D55E7C44E0}">
      <dsp:nvSpPr>
        <dsp:cNvPr id="0" name=""/>
        <dsp:cNvSpPr/>
      </dsp:nvSpPr>
      <dsp:spPr>
        <a:xfrm>
          <a:off x="353707" y="263587"/>
          <a:ext cx="643104" cy="64310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415C6CEC-07C0-475F-A336-B6109AB3E9DF}">
      <dsp:nvSpPr>
        <dsp:cNvPr id="0" name=""/>
        <dsp:cNvSpPr/>
      </dsp:nvSpPr>
      <dsp:spPr>
        <a:xfrm>
          <a:off x="1350519" y="499"/>
          <a:ext cx="8267613" cy="11692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3749" tIns="123749" rIns="123749" bIns="123749" numCol="1" spcCol="1270" anchor="ctr" anchorCtr="0">
          <a:noAutofit/>
        </a:bodyPr>
        <a:lstStyle/>
        <a:p>
          <a:pPr marL="0" lvl="0" indent="0" algn="just" defTabSz="800100">
            <a:lnSpc>
              <a:spcPct val="90000"/>
            </a:lnSpc>
            <a:spcBef>
              <a:spcPct val="0"/>
            </a:spcBef>
            <a:spcAft>
              <a:spcPct val="35000"/>
            </a:spcAft>
            <a:buNone/>
          </a:pPr>
          <a:r>
            <a:rPr lang="en-US" sz="1800" kern="1200" dirty="0">
              <a:latin typeface="Times New Roman" panose="02020603050405020304" pitchFamily="18" charset="0"/>
              <a:cs typeface="Times New Roman" panose="02020603050405020304" pitchFamily="18" charset="0"/>
            </a:rPr>
            <a:t>I have taken PM2.5 daily values from the Environmental Protection Agency Air Quality System (</a:t>
          </a:r>
          <a:r>
            <a:rPr lang="en-US" sz="1800" b="1" kern="1200" dirty="0">
              <a:latin typeface="Times New Roman" panose="02020603050405020304" pitchFamily="18" charset="0"/>
              <a:cs typeface="Times New Roman" panose="02020603050405020304" pitchFamily="18" charset="0"/>
            </a:rPr>
            <a:t>EPA AQS).  </a:t>
          </a:r>
          <a:r>
            <a:rPr lang="en-US" sz="1800" kern="1200" dirty="0">
              <a:latin typeface="Times New Roman" panose="02020603050405020304" pitchFamily="18" charset="0"/>
              <a:cs typeface="Times New Roman" panose="02020603050405020304" pitchFamily="18" charset="0"/>
            </a:rPr>
            <a:t>And it contains data from 2010 to 2024. And there are 12967 rows and 22 columns in this dataset.</a:t>
          </a:r>
        </a:p>
      </dsp:txBody>
      <dsp:txXfrm>
        <a:off x="1350519" y="499"/>
        <a:ext cx="8267613" cy="1169280"/>
      </dsp:txXfrm>
    </dsp:sp>
    <dsp:sp modelId="{B00BCCF8-B3C2-4581-A79A-94371AA57427}">
      <dsp:nvSpPr>
        <dsp:cNvPr id="0" name=""/>
        <dsp:cNvSpPr/>
      </dsp:nvSpPr>
      <dsp:spPr>
        <a:xfrm>
          <a:off x="0" y="1462100"/>
          <a:ext cx="9618133" cy="1169280"/>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FA31124-E121-4E10-9DA8-8C5AFBD4E4FF}">
      <dsp:nvSpPr>
        <dsp:cNvPr id="0" name=""/>
        <dsp:cNvSpPr/>
      </dsp:nvSpPr>
      <dsp:spPr>
        <a:xfrm>
          <a:off x="353707" y="1725188"/>
          <a:ext cx="643104" cy="64310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8F765EC7-078C-4930-9761-41F2A4D91F72}">
      <dsp:nvSpPr>
        <dsp:cNvPr id="0" name=""/>
        <dsp:cNvSpPr/>
      </dsp:nvSpPr>
      <dsp:spPr>
        <a:xfrm>
          <a:off x="1350519" y="1462100"/>
          <a:ext cx="8267613" cy="11692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3749" tIns="123749" rIns="123749" bIns="123749" numCol="1" spcCol="1270" anchor="ctr" anchorCtr="0">
          <a:noAutofit/>
        </a:bodyPr>
        <a:lstStyle/>
        <a:p>
          <a:pPr marL="0" lvl="0" indent="0" algn="just" defTabSz="800100">
            <a:lnSpc>
              <a:spcPct val="90000"/>
            </a:lnSpc>
            <a:spcBef>
              <a:spcPct val="0"/>
            </a:spcBef>
            <a:spcAft>
              <a:spcPct val="35000"/>
            </a:spcAft>
            <a:buNone/>
          </a:pPr>
          <a:r>
            <a:rPr lang="en-US" sz="1800" kern="1200" dirty="0">
              <a:latin typeface="Times New Roman" panose="02020603050405020304" pitchFamily="18" charset="0"/>
              <a:cs typeface="Times New Roman" panose="02020603050405020304" pitchFamily="18" charset="0"/>
            </a:rPr>
            <a:t>And the weather data is collected from the National Oceanic and Atmospheric Administration National Centers for Environmental Information (</a:t>
          </a:r>
          <a:r>
            <a:rPr lang="en-US" sz="1800" b="1" kern="1200" dirty="0">
              <a:latin typeface="Times New Roman" panose="02020603050405020304" pitchFamily="18" charset="0"/>
              <a:cs typeface="Times New Roman" panose="02020603050405020304" pitchFamily="18" charset="0"/>
            </a:rPr>
            <a:t>NOAA NCEI). </a:t>
          </a:r>
          <a:r>
            <a:rPr lang="en-US" sz="1800" kern="1200" dirty="0">
              <a:latin typeface="Times New Roman" panose="02020603050405020304" pitchFamily="18" charset="0"/>
              <a:cs typeface="Times New Roman" panose="02020603050405020304" pitchFamily="18" charset="0"/>
            </a:rPr>
            <a:t>This data is also from 2010 to 2014. And there are 5479 rows and 28 columns.</a:t>
          </a:r>
        </a:p>
      </dsp:txBody>
      <dsp:txXfrm>
        <a:off x="1350519" y="1462100"/>
        <a:ext cx="8267613" cy="1169280"/>
      </dsp:txXfrm>
    </dsp:sp>
    <dsp:sp modelId="{DE017744-AD6F-4732-BD11-2BE975741C3F}">
      <dsp:nvSpPr>
        <dsp:cNvPr id="0" name=""/>
        <dsp:cNvSpPr/>
      </dsp:nvSpPr>
      <dsp:spPr>
        <a:xfrm>
          <a:off x="0" y="2923701"/>
          <a:ext cx="9618133" cy="1169280"/>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0F7453B-0234-4771-91B3-66A7F34DE2E8}">
      <dsp:nvSpPr>
        <dsp:cNvPr id="0" name=""/>
        <dsp:cNvSpPr/>
      </dsp:nvSpPr>
      <dsp:spPr>
        <a:xfrm>
          <a:off x="353707" y="3186789"/>
          <a:ext cx="643104" cy="64310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E4590065-768B-4B7D-8186-C29BEA992B89}">
      <dsp:nvSpPr>
        <dsp:cNvPr id="0" name=""/>
        <dsp:cNvSpPr/>
      </dsp:nvSpPr>
      <dsp:spPr>
        <a:xfrm>
          <a:off x="1350519" y="2923701"/>
          <a:ext cx="8267613" cy="11692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3749" tIns="123749" rIns="123749" bIns="123749" numCol="1" spcCol="1270" anchor="ctr" anchorCtr="0">
          <a:noAutofit/>
        </a:bodyPr>
        <a:lstStyle/>
        <a:p>
          <a:pPr marL="0" lvl="0" indent="0" algn="just" defTabSz="800100">
            <a:lnSpc>
              <a:spcPct val="90000"/>
            </a:lnSpc>
            <a:spcBef>
              <a:spcPct val="0"/>
            </a:spcBef>
            <a:spcAft>
              <a:spcPct val="35000"/>
            </a:spcAft>
            <a:buNone/>
          </a:pPr>
          <a:r>
            <a:rPr lang="en-US" sz="1800" kern="1200" dirty="0">
              <a:latin typeface="Times New Roman" panose="02020603050405020304" pitchFamily="18" charset="0"/>
              <a:cs typeface="Times New Roman" panose="02020603050405020304" pitchFamily="18" charset="0"/>
            </a:rPr>
            <a:t>I have taken pm2.5 daily data from Los Angeles North Main street. And the weather data from Los angels international airport. Where both the areas are very close within 20miles. So pm2.5 and the weather doesn’t vary much around this region.</a:t>
          </a:r>
        </a:p>
      </dsp:txBody>
      <dsp:txXfrm>
        <a:off x="1350519" y="2923701"/>
        <a:ext cx="8267613" cy="116928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CCB7017-C376-4B84-AAE2-0D4AD819D945}">
      <dsp:nvSpPr>
        <dsp:cNvPr id="0" name=""/>
        <dsp:cNvSpPr/>
      </dsp:nvSpPr>
      <dsp:spPr>
        <a:xfrm>
          <a:off x="708177" y="476059"/>
          <a:ext cx="716660" cy="71666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C013EBC7-E4EF-4B5C-97EB-6A43566DBBB1}">
      <dsp:nvSpPr>
        <dsp:cNvPr id="0" name=""/>
        <dsp:cNvSpPr/>
      </dsp:nvSpPr>
      <dsp:spPr>
        <a:xfrm>
          <a:off x="270218" y="1504922"/>
          <a:ext cx="1592578" cy="8976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en-US" sz="1100" kern="1200" dirty="0">
              <a:latin typeface="Times New Roman" panose="02020603050405020304" pitchFamily="18" charset="0"/>
              <a:cs typeface="Times New Roman" panose="02020603050405020304" pitchFamily="18" charset="0"/>
            </a:rPr>
            <a:t>The data is taken from the 2010 to 2024. I have downloaded the data for each year individually</a:t>
          </a:r>
          <a:r>
            <a:rPr lang="en-US" sz="1100" kern="1200" dirty="0"/>
            <a:t>.</a:t>
          </a:r>
        </a:p>
      </dsp:txBody>
      <dsp:txXfrm>
        <a:off x="270218" y="1504922"/>
        <a:ext cx="1592578" cy="897691"/>
      </dsp:txXfrm>
    </dsp:sp>
    <dsp:sp modelId="{0C640C95-6FF3-4326-ADF4-FBABBCF2CCEC}">
      <dsp:nvSpPr>
        <dsp:cNvPr id="0" name=""/>
        <dsp:cNvSpPr/>
      </dsp:nvSpPr>
      <dsp:spPr>
        <a:xfrm>
          <a:off x="2579457" y="476059"/>
          <a:ext cx="716660" cy="71666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5108A2E5-BBD6-44CA-BFCE-D533DC741FC2}">
      <dsp:nvSpPr>
        <dsp:cNvPr id="0" name=""/>
        <dsp:cNvSpPr/>
      </dsp:nvSpPr>
      <dsp:spPr>
        <a:xfrm>
          <a:off x="2141498" y="1504922"/>
          <a:ext cx="1592578" cy="8976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en-US" sz="1100" kern="1200" dirty="0">
              <a:latin typeface="Times New Roman" panose="02020603050405020304" pitchFamily="18" charset="0"/>
              <a:cs typeface="Times New Roman" panose="02020603050405020304" pitchFamily="18" charset="0"/>
            </a:rPr>
            <a:t>So the data is merged and made into one csv file. The EPA AQS data contains 12967rows. This means on the same date the values are measured by different instruments.</a:t>
          </a:r>
        </a:p>
      </dsp:txBody>
      <dsp:txXfrm>
        <a:off x="2141498" y="1504922"/>
        <a:ext cx="1592578" cy="897691"/>
      </dsp:txXfrm>
    </dsp:sp>
    <dsp:sp modelId="{720F1C60-CB3B-49E2-83F4-B683C6F67D76}">
      <dsp:nvSpPr>
        <dsp:cNvPr id="0" name=""/>
        <dsp:cNvSpPr/>
      </dsp:nvSpPr>
      <dsp:spPr>
        <a:xfrm>
          <a:off x="4450736" y="476059"/>
          <a:ext cx="716660" cy="71666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10FFA477-5C1C-4FEF-B697-FA27AF7CF871}">
      <dsp:nvSpPr>
        <dsp:cNvPr id="0" name=""/>
        <dsp:cNvSpPr/>
      </dsp:nvSpPr>
      <dsp:spPr>
        <a:xfrm>
          <a:off x="4012777" y="1504922"/>
          <a:ext cx="1592578" cy="8976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en-US" sz="1100" kern="1200" dirty="0">
              <a:latin typeface="Times New Roman" panose="02020603050405020304" pitchFamily="18" charset="0"/>
              <a:cs typeface="Times New Roman" panose="02020603050405020304" pitchFamily="18" charset="0"/>
            </a:rPr>
            <a:t>So I grouped and averaged the data in EPA file using the date column. After that it contains 5457 rows. And selected only pm2.5 daily data column. So EPA data now has 5457rows  and 2 columns.</a:t>
          </a:r>
        </a:p>
      </dsp:txBody>
      <dsp:txXfrm>
        <a:off x="4012777" y="1504922"/>
        <a:ext cx="1592578" cy="897691"/>
      </dsp:txXfrm>
    </dsp:sp>
    <dsp:sp modelId="{A1245447-B031-48C0-B069-A167867547C3}">
      <dsp:nvSpPr>
        <dsp:cNvPr id="0" name=""/>
        <dsp:cNvSpPr/>
      </dsp:nvSpPr>
      <dsp:spPr>
        <a:xfrm>
          <a:off x="6322015" y="476059"/>
          <a:ext cx="716660" cy="71666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189E3FA3-8BFA-4F98-87EB-A4CB2E2D6657}">
      <dsp:nvSpPr>
        <dsp:cNvPr id="0" name=""/>
        <dsp:cNvSpPr/>
      </dsp:nvSpPr>
      <dsp:spPr>
        <a:xfrm>
          <a:off x="5884056" y="1504922"/>
          <a:ext cx="1592578" cy="8976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en-US" sz="1100" kern="1200" dirty="0">
              <a:latin typeface="Times New Roman" panose="02020603050405020304" pitchFamily="18" charset="0"/>
              <a:cs typeface="Times New Roman" panose="02020603050405020304" pitchFamily="18" charset="0"/>
            </a:rPr>
            <a:t>NOAA NCEI data is also from 2010 to 2024. Merged all the files and made into one csv file.</a:t>
          </a:r>
        </a:p>
      </dsp:txBody>
      <dsp:txXfrm>
        <a:off x="5884056" y="1504922"/>
        <a:ext cx="1592578" cy="897691"/>
      </dsp:txXfrm>
    </dsp:sp>
    <dsp:sp modelId="{3DDB1DF1-8ADE-4FBF-A167-29D96600F52C}">
      <dsp:nvSpPr>
        <dsp:cNvPr id="0" name=""/>
        <dsp:cNvSpPr/>
      </dsp:nvSpPr>
      <dsp:spPr>
        <a:xfrm>
          <a:off x="8193295" y="476059"/>
          <a:ext cx="716660" cy="716660"/>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60CB4824-73D8-48D7-9AF1-7822EF4594E3}">
      <dsp:nvSpPr>
        <dsp:cNvPr id="0" name=""/>
        <dsp:cNvSpPr/>
      </dsp:nvSpPr>
      <dsp:spPr>
        <a:xfrm>
          <a:off x="7755336" y="1504922"/>
          <a:ext cx="1592578" cy="8976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en-US" sz="1100" kern="1200" dirty="0">
              <a:latin typeface="Times New Roman" panose="02020603050405020304" pitchFamily="18" charset="0"/>
              <a:cs typeface="Times New Roman" panose="02020603050405020304" pitchFamily="18" charset="0"/>
            </a:rPr>
            <a:t>Merged both the datasets based on date column into one csv file. So final dataset has 5457 rows and 16 columns</a:t>
          </a:r>
          <a:r>
            <a:rPr lang="en-US" sz="1100" kern="1200" dirty="0"/>
            <a:t>.</a:t>
          </a:r>
        </a:p>
      </dsp:txBody>
      <dsp:txXfrm>
        <a:off x="7755336" y="1504922"/>
        <a:ext cx="1592578" cy="897691"/>
      </dsp:txXfrm>
    </dsp:sp>
    <dsp:sp modelId="{5D6AC5E7-236E-49DF-A5BE-B334D3DC08D3}">
      <dsp:nvSpPr>
        <dsp:cNvPr id="0" name=""/>
        <dsp:cNvSpPr/>
      </dsp:nvSpPr>
      <dsp:spPr>
        <a:xfrm>
          <a:off x="2579457" y="2800758"/>
          <a:ext cx="716660" cy="716660"/>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E2E6EF01-5D3C-4A10-9AF9-5838057C6AD9}">
      <dsp:nvSpPr>
        <dsp:cNvPr id="0" name=""/>
        <dsp:cNvSpPr/>
      </dsp:nvSpPr>
      <dsp:spPr>
        <a:xfrm>
          <a:off x="2141498" y="3829620"/>
          <a:ext cx="1592578" cy="8976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90000"/>
            </a:lnSpc>
            <a:spcBef>
              <a:spcPct val="0"/>
            </a:spcBef>
            <a:spcAft>
              <a:spcPct val="35000"/>
            </a:spcAft>
            <a:buNone/>
          </a:pPr>
          <a:r>
            <a:rPr lang="en-US" sz="1400" kern="1200" dirty="0">
              <a:latin typeface="Times New Roman" panose="02020603050405020304" pitchFamily="18" charset="0"/>
              <a:cs typeface="Times New Roman" panose="02020603050405020304" pitchFamily="18" charset="0"/>
            </a:rPr>
            <a:t>New features are created using existing features. And lagged features are created.</a:t>
          </a:r>
        </a:p>
      </dsp:txBody>
      <dsp:txXfrm>
        <a:off x="2141498" y="3829620"/>
        <a:ext cx="1592578" cy="897691"/>
      </dsp:txXfrm>
    </dsp:sp>
    <dsp:sp modelId="{A8B2F390-641F-4FC2-B5A0-3F5E47FE216E}">
      <dsp:nvSpPr>
        <dsp:cNvPr id="0" name=""/>
        <dsp:cNvSpPr/>
      </dsp:nvSpPr>
      <dsp:spPr>
        <a:xfrm>
          <a:off x="4450736" y="2800758"/>
          <a:ext cx="716660" cy="716660"/>
        </a:xfrm>
        <a:prstGeom prst="rect">
          <a:avLst/>
        </a:prstGeom>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AC7DD16C-0303-45F1-B4F3-F55506BA53C9}">
      <dsp:nvSpPr>
        <dsp:cNvPr id="0" name=""/>
        <dsp:cNvSpPr/>
      </dsp:nvSpPr>
      <dsp:spPr>
        <a:xfrm>
          <a:off x="4012777" y="3829620"/>
          <a:ext cx="1592578" cy="8976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90000"/>
            </a:lnSpc>
            <a:spcBef>
              <a:spcPct val="0"/>
            </a:spcBef>
            <a:spcAft>
              <a:spcPct val="35000"/>
            </a:spcAft>
            <a:buNone/>
          </a:pPr>
          <a:r>
            <a:rPr lang="en-US" sz="1600" kern="1200" dirty="0">
              <a:latin typeface="Times New Roman" panose="02020603050405020304" pitchFamily="18" charset="0"/>
              <a:cs typeface="Times New Roman" panose="02020603050405020304" pitchFamily="18" charset="0"/>
            </a:rPr>
            <a:t>Data cleaning is done after creation of new features.</a:t>
          </a:r>
        </a:p>
      </dsp:txBody>
      <dsp:txXfrm>
        <a:off x="4012777" y="3829620"/>
        <a:ext cx="1592578" cy="897691"/>
      </dsp:txXfrm>
    </dsp:sp>
    <dsp:sp modelId="{86104549-AD07-4727-B4C3-8A2CC846D6CF}">
      <dsp:nvSpPr>
        <dsp:cNvPr id="0" name=""/>
        <dsp:cNvSpPr/>
      </dsp:nvSpPr>
      <dsp:spPr>
        <a:xfrm>
          <a:off x="6322015" y="2800758"/>
          <a:ext cx="716660" cy="716660"/>
        </a:xfrm>
        <a:prstGeom prst="rect">
          <a:avLst/>
        </a:prstGeom>
        <a:blipFill>
          <a:blip xmlns:r="http://schemas.openxmlformats.org/officeDocument/2006/relationships"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55BC5913-9859-4715-9B27-127AEBB12025}">
      <dsp:nvSpPr>
        <dsp:cNvPr id="0" name=""/>
        <dsp:cNvSpPr/>
      </dsp:nvSpPr>
      <dsp:spPr>
        <a:xfrm>
          <a:off x="5884056" y="3829620"/>
          <a:ext cx="1592578" cy="8976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90000"/>
            </a:lnSpc>
            <a:spcBef>
              <a:spcPct val="0"/>
            </a:spcBef>
            <a:spcAft>
              <a:spcPct val="35000"/>
            </a:spcAft>
            <a:buNone/>
          </a:pPr>
          <a:r>
            <a:rPr lang="en-US" sz="1400" kern="1200" dirty="0">
              <a:latin typeface="Times New Roman" panose="02020603050405020304" pitchFamily="18" charset="0"/>
              <a:cs typeface="Times New Roman" panose="02020603050405020304" pitchFamily="18" charset="0"/>
            </a:rPr>
            <a:t>Labelled column is created based on pm2.5 values.</a:t>
          </a:r>
        </a:p>
      </dsp:txBody>
      <dsp:txXfrm>
        <a:off x="5884056" y="3829620"/>
        <a:ext cx="1592578" cy="897691"/>
      </dsp:txXfrm>
    </dsp:sp>
  </dsp:spTree>
</dsp:drawing>
</file>

<file path=ppt/diagrams/layout1.xml><?xml version="1.0" encoding="utf-8"?>
<dgm:layoutDef xmlns:dgm="http://schemas.openxmlformats.org/drawingml/2006/diagram" xmlns:a="http://schemas.openxmlformats.org/drawingml/2006/main" uniqueId="urn:microsoft.com/office/officeart/2016/7/layout/BasicLinearProcessNumbered">
  <dgm:title val="Basic Linear Process Numbered"/>
  <dgm:desc val="Used to show a progression; a timeline; sequential steps in a task, process, or workflow; or to emphasize movement or direction. Automatic numbers have been introduced to show the steps of the process which appears in a circle. Level 1 and Level 2 text appear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1</a:t>
              </a:r>
            </a:p>
          </dgm:t>
        </dgm:pt>
        <dgm:pt modelId="201" type="sibTrans" cxnId="5">
          <dgm:prSet phldrT="2"/>
          <dgm:t>
            <a:bodyPr/>
            <a:lstStyle/>
            <a:p>
              <a:r>
                <a:t>2</a:t>
              </a:r>
            </a:p>
          </dgm:t>
        </dgm:pt>
        <dgm:pt modelId="301" type="sibTrans" cxnId="6">
          <dgm:prSet phldrT="3"/>
          <dgm:t>
            <a:bodyPr/>
            <a:lstStyle/>
            <a:p>
              <a:r>
                <a:t>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1"/>
      <dgm:constr type="primFontSz" for="des" forName="sibTransNodeCircle" op="equ"/>
      <dgm:constr type="primFontSz" for="des" forName="nodeText" op="equ"/>
      <dgm:constr type="h" for="des" forName="sibTransNodeCircle" op="equ"/>
      <dgm:constr type="w" for="des" forName="sibTransNodeCircle" op="equ"/>
    </dgm:constrLst>
    <dgm:ruleLst>
      <dgm:rule type="h" val="NaN" fact="1.2" max="NaN"/>
    </dgm:ruleLst>
    <dgm:forEach name="Name4" axis="ch" ptType="node">
      <dgm:layoutNode name="compositeNode">
        <dgm:varLst>
          <dgm:bulletEnabled val="1"/>
        </dgm:varLst>
        <dgm:alg type="composite"/>
        <dgm:constrLst>
          <dgm:constr type="h" refType="w" op="lte" fact="1.4"/>
          <dgm:constr type="w" for="ch" forName="bgRect" refType="w"/>
          <dgm:constr type="h" for="ch" forName="bgRect" refType="h"/>
          <dgm:constr type="t" for="ch" forName="bgRect"/>
          <dgm:constr type="l" for="ch" forName="bgRect"/>
          <dgm:constr type="h" for="ch" forName="sibTransNodeCircle" refType="h" refFor="ch" refForName="bgRect" fact="0.3"/>
          <dgm:constr type="w" for="ch" forName="sibTransNodeCircle" refType="h" refFor="ch" refForName="sibTransNodeCircle"/>
          <dgm:constr type="ctrX" for="ch" forName="sibTransNodeCircle" refType="w" fact="0.5"/>
          <dgm:constr type="ctrY" for="ch" forName="sibTransNodeCircle" refType="h" fact="0.25"/>
          <dgm:constr type="r" for="ch" forName="nodeText" refType="r" refFor="ch" refForName="bgRect"/>
          <dgm:constr type="h" for="ch" forName="nodeText" refType="h" refFor="ch" refForName="bgRect" fact="0.6"/>
          <dgm:constr type="t" for="ch" forName="nodeText" refType="h" refFor="ch" refForName="bgRect" fact="0.38"/>
          <dgm:constr type="b" for="ch" forName="bottomLine" refType="b" refFor="ch" refForName="bgRect"/>
          <dgm:constr type="w" for="ch" forName="bottomLine" refType="w" refFor="ch" refForName="bgRect"/>
          <dgm:constr type="h" for="ch" forName="bottomLine" val="0.002"/>
        </dgm:constrLst>
        <dgm:ruleLst/>
        <dgm:layoutNode name="bgRect" styleLbl="bgAccFollowNode1">
          <dgm:alg type="sp"/>
          <dgm:shape xmlns:r="http://schemas.openxmlformats.org/officeDocument/2006/relationships" type="rect" r:blip="">
            <dgm:adjLst/>
          </dgm:shape>
          <dgm:presOf axis="self"/>
          <dgm:constrLst/>
          <dgm:ruleLst/>
        </dgm:layoutNode>
        <dgm:forEach name="Name19" axis="followSib" ptType="sibTrans" hideLastTrans="0" cnt="1">
          <dgm:layoutNode name="sibTransNodeCircle" styleLbl="alignNode1">
            <dgm:varLst>
              <dgm:chMax val="0"/>
              <dgm:bulletEnabled/>
            </dgm:varLst>
            <dgm:presOf axis="self" ptType="sibTrans"/>
            <dgm:alg type="tx">
              <dgm:param type="txAnchorVert" val="mid"/>
              <dgm:param type="txAnchorHorzCh" val="ctr"/>
            </dgm:alg>
            <dgm:shape xmlns:r="http://schemas.openxmlformats.org/officeDocument/2006/relationships" type="ellipse" r:blip="">
              <dgm:adjLst/>
            </dgm:shape>
            <dgm:constrLst>
              <dgm:constr type="w" refType="h" op="lte"/>
              <dgm:constr type="primFontSz" val="48"/>
              <dgm:constr type="tMarg" val="1"/>
              <dgm:constr type="lMarg" refType="w" fact="0.221"/>
              <dgm:constr type="rMarg" refType="w" fact="0.221"/>
              <dgm:constr type="bMarg" val="1"/>
            </dgm:constrLst>
            <dgm:ruleLst>
              <dgm:rule type="primFontSz" val="14" fact="NaN" max="NaN"/>
            </dgm:ruleLst>
          </dgm:layoutNode>
        </dgm:forEach>
        <dgm:layoutNode name="bottomLine" styleLbl="alignNode1">
          <dgm:varLst/>
          <dgm:presOf/>
          <dgm:alg type="sp"/>
          <dgm:shape xmlns:r="http://schemas.openxmlformats.org/officeDocument/2006/relationships" type="rect" r:blip="">
            <dgm:adjLst/>
          </dgm:shape>
          <dgm:constrLst/>
          <dgm:ruleLst/>
        </dgm:layoutNode>
        <dgm:layoutNode name="nodeText" styleLbl="bgAccFollowNode1" moveWith="bgRect">
          <dgm:varLst>
            <dgm:bulletEnabled val="1"/>
          </dgm:varLst>
          <dgm:alg type="tx">
            <dgm:param type="parTxLTRAlign" val="l"/>
            <dgm:param type="parTxRTLAlign" val="r"/>
            <dgm:param type="txAnchorVert" val="t"/>
          </dgm:alg>
          <dgm:shape xmlns:r="http://schemas.openxmlformats.org/officeDocument/2006/relationships" type="rect" r:blip="" zOrderOff="-1" hideGeom="1">
            <dgm:adjLst/>
          </dgm:shape>
          <dgm:presOf axis="desOrSelf" ptType="node"/>
          <dgm:constrLst>
            <dgm:constr type="primFontSz" val="26"/>
            <dgm:constr type="tMarg" val="26"/>
            <dgm:constr type="lMarg" refType="w" fact="0.221"/>
            <dgm:constr type="rMarg" refType="w" fact="0.221"/>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0">
            <a:buAutoNum type="arabicParenBoth"/>
          </dgm1611:buPr>
        </dgm1611:autoBuNodeInfo>
      </dgm1611:autoBuNodeInfoLst>
    </a:ext>
  </dgm:extLst>
</dgm:layoutDef>
</file>

<file path=ppt/diagrams/layout2.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5.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EF0F1D9-B145-4FDE-A86C-C37AD5A35EA3}" type="datetimeFigureOut">
              <a:rPr lang="en-IN" smtClean="0"/>
              <a:t>28-04-2025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8093032-9A08-4204-8052-4A2415FCD733}" type="slidenum">
              <a:rPr lang="en-IN" smtClean="0"/>
              <a:t>‹#›</a:t>
            </a:fld>
            <a:endParaRPr lang="en-IN"/>
          </a:p>
        </p:txBody>
      </p:sp>
    </p:spTree>
    <p:extLst>
      <p:ext uri="{BB962C8B-B14F-4D97-AF65-F5344CB8AC3E}">
        <p14:creationId xmlns:p14="http://schemas.microsoft.com/office/powerpoint/2010/main" val="5715374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EF0F1D9-B145-4FDE-A86C-C37AD5A35EA3}" type="datetimeFigureOut">
              <a:rPr lang="en-IN" smtClean="0"/>
              <a:t>28-04-2025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8093032-9A08-4204-8052-4A2415FCD733}" type="slidenum">
              <a:rPr lang="en-IN" smtClean="0"/>
              <a:t>‹#›</a:t>
            </a:fld>
            <a:endParaRPr lang="en-IN"/>
          </a:p>
        </p:txBody>
      </p:sp>
    </p:spTree>
    <p:extLst>
      <p:ext uri="{BB962C8B-B14F-4D97-AF65-F5344CB8AC3E}">
        <p14:creationId xmlns:p14="http://schemas.microsoft.com/office/powerpoint/2010/main" val="29337183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EF0F1D9-B145-4FDE-A86C-C37AD5A35EA3}" type="datetimeFigureOut">
              <a:rPr lang="en-IN" smtClean="0"/>
              <a:t>28-04-2025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8093032-9A08-4204-8052-4A2415FCD733}" type="slidenum">
              <a:rPr lang="en-IN" smtClean="0"/>
              <a:t>‹#›</a:t>
            </a:fld>
            <a:endParaRPr lang="en-IN"/>
          </a:p>
        </p:txBody>
      </p:sp>
    </p:spTree>
    <p:extLst>
      <p:ext uri="{BB962C8B-B14F-4D97-AF65-F5344CB8AC3E}">
        <p14:creationId xmlns:p14="http://schemas.microsoft.com/office/powerpoint/2010/main" val="32709717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EF0F1D9-B145-4FDE-A86C-C37AD5A35EA3}" type="datetimeFigureOut">
              <a:rPr lang="en-IN" smtClean="0"/>
              <a:t>28-04-2025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8093032-9A08-4204-8052-4A2415FCD733}" type="slidenum">
              <a:rPr lang="en-IN" smtClean="0"/>
              <a:t>‹#›</a:t>
            </a:fld>
            <a:endParaRPr lang="en-IN"/>
          </a:p>
        </p:txBody>
      </p:sp>
    </p:spTree>
    <p:extLst>
      <p:ext uri="{BB962C8B-B14F-4D97-AF65-F5344CB8AC3E}">
        <p14:creationId xmlns:p14="http://schemas.microsoft.com/office/powerpoint/2010/main" val="13840818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EF0F1D9-B145-4FDE-A86C-C37AD5A35EA3}" type="datetimeFigureOut">
              <a:rPr lang="en-IN" smtClean="0"/>
              <a:t>28-04-2025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8093032-9A08-4204-8052-4A2415FCD733}" type="slidenum">
              <a:rPr lang="en-IN" smtClean="0"/>
              <a:t>‹#›</a:t>
            </a:fld>
            <a:endParaRPr lang="en-IN"/>
          </a:p>
        </p:txBody>
      </p:sp>
    </p:spTree>
    <p:extLst>
      <p:ext uri="{BB962C8B-B14F-4D97-AF65-F5344CB8AC3E}">
        <p14:creationId xmlns:p14="http://schemas.microsoft.com/office/powerpoint/2010/main" val="14998159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EF0F1D9-B145-4FDE-A86C-C37AD5A35EA3}" type="datetimeFigureOut">
              <a:rPr lang="en-IN" smtClean="0"/>
              <a:t>28-04-2025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8093032-9A08-4204-8052-4A2415FCD733}" type="slidenum">
              <a:rPr lang="en-IN" smtClean="0"/>
              <a:t>‹#›</a:t>
            </a:fld>
            <a:endParaRPr lang="en-IN"/>
          </a:p>
        </p:txBody>
      </p:sp>
    </p:spTree>
    <p:extLst>
      <p:ext uri="{BB962C8B-B14F-4D97-AF65-F5344CB8AC3E}">
        <p14:creationId xmlns:p14="http://schemas.microsoft.com/office/powerpoint/2010/main" val="29025949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EF0F1D9-B145-4FDE-A86C-C37AD5A35EA3}" type="datetimeFigureOut">
              <a:rPr lang="en-IN" smtClean="0"/>
              <a:t>28-04-2025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F8093032-9A08-4204-8052-4A2415FCD733}" type="slidenum">
              <a:rPr lang="en-IN" smtClean="0"/>
              <a:t>‹#›</a:t>
            </a:fld>
            <a:endParaRPr lang="en-IN"/>
          </a:p>
        </p:txBody>
      </p:sp>
    </p:spTree>
    <p:extLst>
      <p:ext uri="{BB962C8B-B14F-4D97-AF65-F5344CB8AC3E}">
        <p14:creationId xmlns:p14="http://schemas.microsoft.com/office/powerpoint/2010/main" val="10521471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EF0F1D9-B145-4FDE-A86C-C37AD5A35EA3}" type="datetimeFigureOut">
              <a:rPr lang="en-IN" smtClean="0"/>
              <a:t>28-04-2025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8093032-9A08-4204-8052-4A2415FCD733}" type="slidenum">
              <a:rPr lang="en-IN" smtClean="0"/>
              <a:t>‹#›</a:t>
            </a:fld>
            <a:endParaRPr lang="en-IN"/>
          </a:p>
        </p:txBody>
      </p:sp>
    </p:spTree>
    <p:extLst>
      <p:ext uri="{BB962C8B-B14F-4D97-AF65-F5344CB8AC3E}">
        <p14:creationId xmlns:p14="http://schemas.microsoft.com/office/powerpoint/2010/main" val="22323026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EF0F1D9-B145-4FDE-A86C-C37AD5A35EA3}" type="datetimeFigureOut">
              <a:rPr lang="en-IN" smtClean="0"/>
              <a:t>28-04-2025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8093032-9A08-4204-8052-4A2415FCD733}" type="slidenum">
              <a:rPr lang="en-IN" smtClean="0"/>
              <a:t>‹#›</a:t>
            </a:fld>
            <a:endParaRPr lang="en-IN"/>
          </a:p>
        </p:txBody>
      </p:sp>
    </p:spTree>
    <p:extLst>
      <p:ext uri="{BB962C8B-B14F-4D97-AF65-F5344CB8AC3E}">
        <p14:creationId xmlns:p14="http://schemas.microsoft.com/office/powerpoint/2010/main" val="23408394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EF0F1D9-B145-4FDE-A86C-C37AD5A35EA3}" type="datetimeFigureOut">
              <a:rPr lang="en-IN" smtClean="0"/>
              <a:t>28-04-2025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8093032-9A08-4204-8052-4A2415FCD733}" type="slidenum">
              <a:rPr lang="en-IN" smtClean="0"/>
              <a:t>‹#›</a:t>
            </a:fld>
            <a:endParaRPr lang="en-IN"/>
          </a:p>
        </p:txBody>
      </p:sp>
    </p:spTree>
    <p:extLst>
      <p:ext uri="{BB962C8B-B14F-4D97-AF65-F5344CB8AC3E}">
        <p14:creationId xmlns:p14="http://schemas.microsoft.com/office/powerpoint/2010/main" val="4585709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EF0F1D9-B145-4FDE-A86C-C37AD5A35EA3}" type="datetimeFigureOut">
              <a:rPr lang="en-IN" smtClean="0"/>
              <a:t>28-04-2025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8093032-9A08-4204-8052-4A2415FCD733}"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311190770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EF0F1D9-B145-4FDE-A86C-C37AD5A35EA3}" type="datetimeFigureOut">
              <a:rPr lang="en-IN" smtClean="0"/>
              <a:t>28-04-2025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8093032-9A08-4204-8052-4A2415FCD733}" type="slidenum">
              <a:rPr lang="en-IN" smtClean="0"/>
              <a:t>‹#›</a:t>
            </a:fld>
            <a:endParaRPr lang="en-IN"/>
          </a:p>
        </p:txBody>
      </p:sp>
    </p:spTree>
    <p:extLst>
      <p:ext uri="{BB962C8B-B14F-4D97-AF65-F5344CB8AC3E}">
        <p14:creationId xmlns:p14="http://schemas.microsoft.com/office/powerpoint/2010/main" val="21791353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EF0F1D9-B145-4FDE-A86C-C37AD5A35EA3}" type="datetimeFigureOut">
              <a:rPr lang="en-IN" smtClean="0"/>
              <a:t>28-04-2025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8093032-9A08-4204-8052-4A2415FCD733}"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8726445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EF0F1D9-B145-4FDE-A86C-C37AD5A35EA3}" type="datetimeFigureOut">
              <a:rPr lang="en-IN" smtClean="0"/>
              <a:t>28-04-2025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8093032-9A08-4204-8052-4A2415FCD733}" type="slidenum">
              <a:rPr lang="en-IN" smtClean="0"/>
              <a:t>‹#›</a:t>
            </a:fld>
            <a:endParaRPr lang="en-IN"/>
          </a:p>
        </p:txBody>
      </p:sp>
    </p:spTree>
    <p:extLst>
      <p:ext uri="{BB962C8B-B14F-4D97-AF65-F5344CB8AC3E}">
        <p14:creationId xmlns:p14="http://schemas.microsoft.com/office/powerpoint/2010/main" val="160162457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EF0F1D9-B145-4FDE-A86C-C37AD5A35EA3}" type="datetimeFigureOut">
              <a:rPr lang="en-IN" smtClean="0"/>
              <a:t>28-04-2025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8093032-9A08-4204-8052-4A2415FCD733}" type="slidenum">
              <a:rPr lang="en-IN" smtClean="0"/>
              <a:t>‹#›</a:t>
            </a:fld>
            <a:endParaRPr lang="en-IN"/>
          </a:p>
        </p:txBody>
      </p:sp>
    </p:spTree>
    <p:extLst>
      <p:ext uri="{BB962C8B-B14F-4D97-AF65-F5344CB8AC3E}">
        <p14:creationId xmlns:p14="http://schemas.microsoft.com/office/powerpoint/2010/main" val="297467642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EF0F1D9-B145-4FDE-A86C-C37AD5A35EA3}" type="datetimeFigureOut">
              <a:rPr lang="en-IN" smtClean="0"/>
              <a:t>28-04-2025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8093032-9A08-4204-8052-4A2415FCD733}" type="slidenum">
              <a:rPr lang="en-IN" smtClean="0"/>
              <a:t>‹#›</a:t>
            </a:fld>
            <a:endParaRPr lang="en-IN"/>
          </a:p>
        </p:txBody>
      </p:sp>
    </p:spTree>
    <p:extLst>
      <p:ext uri="{BB962C8B-B14F-4D97-AF65-F5344CB8AC3E}">
        <p14:creationId xmlns:p14="http://schemas.microsoft.com/office/powerpoint/2010/main" val="38270044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6EF0F1D9-B145-4FDE-A86C-C37AD5A35EA3}" type="datetimeFigureOut">
              <a:rPr lang="en-IN" smtClean="0"/>
              <a:t>28-04-2025</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F8093032-9A08-4204-8052-4A2415FCD733}" type="slidenum">
              <a:rPr lang="en-IN" smtClean="0"/>
              <a:t>‹#›</a:t>
            </a:fld>
            <a:endParaRPr lang="en-IN"/>
          </a:p>
        </p:txBody>
      </p:sp>
    </p:spTree>
    <p:extLst>
      <p:ext uri="{BB962C8B-B14F-4D97-AF65-F5344CB8AC3E}">
        <p14:creationId xmlns:p14="http://schemas.microsoft.com/office/powerpoint/2010/main" val="288512213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DA47C5-182B-50D2-E450-302DE4297C0C}"/>
              </a:ext>
            </a:extLst>
          </p:cNvPr>
          <p:cNvSpPr>
            <a:spLocks noGrp="1"/>
          </p:cNvSpPr>
          <p:nvPr>
            <p:ph type="ctrTitle"/>
          </p:nvPr>
        </p:nvSpPr>
        <p:spPr>
          <a:xfrm>
            <a:off x="789271" y="-500514"/>
            <a:ext cx="9899239" cy="2658751"/>
          </a:xfrm>
        </p:spPr>
        <p:txBody>
          <a:bodyPr/>
          <a:lstStyle/>
          <a:p>
            <a:pPr algn="l"/>
            <a:r>
              <a:rPr lang="en-US" sz="6000" dirty="0">
                <a:latin typeface="Times New Roman" panose="02020603050405020304" pitchFamily="18" charset="0"/>
                <a:cs typeface="Times New Roman" panose="02020603050405020304" pitchFamily="18" charset="0"/>
              </a:rPr>
              <a:t>Predicting A</a:t>
            </a:r>
            <a:r>
              <a:rPr lang="en-US" dirty="0">
                <a:latin typeface="Times New Roman" panose="02020603050405020304" pitchFamily="18" charset="0"/>
                <a:cs typeface="Times New Roman" panose="02020603050405020304" pitchFamily="18" charset="0"/>
              </a:rPr>
              <a:t>ir Quality Levels</a:t>
            </a:r>
            <a:r>
              <a:rPr lang="en-US" sz="6000" dirty="0">
                <a:latin typeface="Times New Roman" panose="02020603050405020304" pitchFamily="18" charset="0"/>
                <a:cs typeface="Times New Roman" panose="02020603050405020304" pitchFamily="18" charset="0"/>
              </a:rPr>
              <a:t> using PM2.5 </a:t>
            </a:r>
            <a:r>
              <a:rPr lang="en-US" dirty="0">
                <a:latin typeface="Times New Roman" panose="02020603050405020304" pitchFamily="18" charset="0"/>
                <a:cs typeface="Times New Roman" panose="02020603050405020304" pitchFamily="18" charset="0"/>
              </a:rPr>
              <a:t>and weather Data</a:t>
            </a:r>
            <a:endParaRPr lang="en-IN" dirty="0"/>
          </a:p>
        </p:txBody>
      </p:sp>
      <p:sp>
        <p:nvSpPr>
          <p:cNvPr id="3" name="Subtitle 2">
            <a:extLst>
              <a:ext uri="{FF2B5EF4-FFF2-40B4-BE49-F238E27FC236}">
                <a16:creationId xmlns:a16="http://schemas.microsoft.com/office/drawing/2014/main" id="{C2DFF699-6546-FCC8-F805-43C2416858DE}"/>
              </a:ext>
            </a:extLst>
          </p:cNvPr>
          <p:cNvSpPr>
            <a:spLocks noGrp="1"/>
          </p:cNvSpPr>
          <p:nvPr>
            <p:ph type="subTitle" idx="1"/>
          </p:nvPr>
        </p:nvSpPr>
        <p:spPr>
          <a:xfrm>
            <a:off x="900989" y="2608448"/>
            <a:ext cx="4056022" cy="1386036"/>
          </a:xfrm>
        </p:spPr>
        <p:txBody>
          <a:bodyPr>
            <a:normAutofit fontScale="85000" lnSpcReduction="20000"/>
          </a:bodyPr>
          <a:lstStyle/>
          <a:p>
            <a:pPr algn="l"/>
            <a:r>
              <a:rPr lang="en-US" sz="2400" dirty="0">
                <a:solidFill>
                  <a:schemeClr val="tx1"/>
                </a:solidFill>
                <a:latin typeface="Times New Roman" panose="02020603050405020304" pitchFamily="18" charset="0"/>
                <a:cs typeface="Times New Roman" panose="02020603050405020304" pitchFamily="18" charset="0"/>
              </a:rPr>
              <a:t>By :Tirumala Teja Yegineni</a:t>
            </a:r>
          </a:p>
          <a:p>
            <a:pPr algn="l"/>
            <a:r>
              <a:rPr lang="en-US" sz="2400" dirty="0">
                <a:solidFill>
                  <a:schemeClr val="tx1"/>
                </a:solidFill>
                <a:latin typeface="Times New Roman" panose="02020603050405020304" pitchFamily="18" charset="0"/>
                <a:cs typeface="Times New Roman" panose="02020603050405020304" pitchFamily="18" charset="0"/>
              </a:rPr>
              <a:t>Date: 4/28/2025</a:t>
            </a:r>
          </a:p>
          <a:p>
            <a:pPr algn="ctr"/>
            <a:r>
              <a:rPr lang="en-US" sz="2400" dirty="0">
                <a:solidFill>
                  <a:schemeClr val="tx1"/>
                </a:solidFill>
                <a:latin typeface="Times New Roman" panose="02020603050405020304" pitchFamily="18" charset="0"/>
                <a:cs typeface="Times New Roman" panose="02020603050405020304" pitchFamily="18" charset="0"/>
              </a:rPr>
              <a:t>Course: Discovery and Learning with     Big Data</a:t>
            </a:r>
          </a:p>
          <a:p>
            <a:pPr algn="l"/>
            <a:endParaRPr lang="en-US" dirty="0">
              <a:latin typeface="Times New Roman" panose="02020603050405020304" pitchFamily="18" charset="0"/>
              <a:cs typeface="Times New Roman" panose="02020603050405020304" pitchFamily="18" charset="0"/>
            </a:endParaRPr>
          </a:p>
          <a:p>
            <a:endParaRPr lang="en-US" dirty="0"/>
          </a:p>
          <a:p>
            <a:endParaRPr lang="en-IN" dirty="0"/>
          </a:p>
        </p:txBody>
      </p:sp>
      <p:sp>
        <p:nvSpPr>
          <p:cNvPr id="5" name="TextBox 4">
            <a:extLst>
              <a:ext uri="{FF2B5EF4-FFF2-40B4-BE49-F238E27FC236}">
                <a16:creationId xmlns:a16="http://schemas.microsoft.com/office/drawing/2014/main" id="{5C464734-4401-1C6E-52F6-32DABFD90699}"/>
              </a:ext>
            </a:extLst>
          </p:cNvPr>
          <p:cNvSpPr txBox="1"/>
          <p:nvPr/>
        </p:nvSpPr>
        <p:spPr>
          <a:xfrm>
            <a:off x="5881036" y="2598003"/>
            <a:ext cx="3552559" cy="830997"/>
          </a:xfrm>
          <a:prstGeom prst="rect">
            <a:avLst/>
          </a:prstGeom>
          <a:noFill/>
        </p:spPr>
        <p:txBody>
          <a:bodyPr wrap="square">
            <a:spAutoFit/>
          </a:bodyPr>
          <a:lstStyle/>
          <a:p>
            <a:r>
              <a:rPr lang="en-US" sz="2400" dirty="0">
                <a:latin typeface="Times New Roman" panose="02020603050405020304" pitchFamily="18" charset="0"/>
                <a:cs typeface="Times New Roman" panose="02020603050405020304" pitchFamily="18" charset="0"/>
              </a:rPr>
              <a:t>Under the guidance of</a:t>
            </a:r>
          </a:p>
          <a:p>
            <a:r>
              <a:rPr lang="en-US" sz="2400" dirty="0">
                <a:latin typeface="Times New Roman" panose="02020603050405020304" pitchFamily="18" charset="0"/>
                <a:cs typeface="Times New Roman" panose="02020603050405020304" pitchFamily="18" charset="0"/>
              </a:rPr>
              <a:t>Prof. Dr. Shon Williams</a:t>
            </a:r>
          </a:p>
        </p:txBody>
      </p:sp>
    </p:spTree>
    <p:extLst>
      <p:ext uri="{BB962C8B-B14F-4D97-AF65-F5344CB8AC3E}">
        <p14:creationId xmlns:p14="http://schemas.microsoft.com/office/powerpoint/2010/main" val="40118149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5" name="Rectangle 34">
            <a:extLst>
              <a:ext uri="{FF2B5EF4-FFF2-40B4-BE49-F238E27FC236}">
                <a16:creationId xmlns:a16="http://schemas.microsoft.com/office/drawing/2014/main" id="{9F4444CE-BC8D-4D61-B303-4C05614E62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DA2EF59-75E1-55D2-1D9E-06B0EB35960E}"/>
              </a:ext>
            </a:extLst>
          </p:cNvPr>
          <p:cNvSpPr>
            <a:spLocks noGrp="1"/>
          </p:cNvSpPr>
          <p:nvPr>
            <p:ph type="title"/>
          </p:nvPr>
        </p:nvSpPr>
        <p:spPr>
          <a:xfrm>
            <a:off x="1286933" y="609600"/>
            <a:ext cx="10197494" cy="1099457"/>
          </a:xfrm>
        </p:spPr>
        <p:txBody>
          <a:bodyPr>
            <a:normAutofit/>
          </a:bodyPr>
          <a:lstStyle/>
          <a:p>
            <a:r>
              <a:rPr lang="en-IN">
                <a:latin typeface="Times New Roman" panose="02020603050405020304" pitchFamily="18" charset="0"/>
                <a:cs typeface="Times New Roman" panose="02020603050405020304" pitchFamily="18" charset="0"/>
              </a:rPr>
              <a:t>Problem Statement</a:t>
            </a:r>
            <a:endParaRPr lang="en-IN" dirty="0">
              <a:latin typeface="Times New Roman" panose="02020603050405020304" pitchFamily="18" charset="0"/>
              <a:cs typeface="Times New Roman" panose="02020603050405020304" pitchFamily="18" charset="0"/>
            </a:endParaRPr>
          </a:p>
        </p:txBody>
      </p:sp>
      <p:sp>
        <p:nvSpPr>
          <p:cNvPr id="37" name="Isosceles Triangle 36">
            <a:extLst>
              <a:ext uri="{FF2B5EF4-FFF2-40B4-BE49-F238E27FC236}">
                <a16:creationId xmlns:a16="http://schemas.microsoft.com/office/drawing/2014/main" id="{73772B81-181F-48B7-8826-4D9686D15D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9" name="Isosceles Triangle 38">
            <a:extLst>
              <a:ext uri="{FF2B5EF4-FFF2-40B4-BE49-F238E27FC236}">
                <a16:creationId xmlns:a16="http://schemas.microsoft.com/office/drawing/2014/main" id="{B2205F6E-03C6-4E92-877C-E2482F6599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1743267"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aphicFrame>
        <p:nvGraphicFramePr>
          <p:cNvPr id="30" name="Content Placeholder 2">
            <a:extLst>
              <a:ext uri="{FF2B5EF4-FFF2-40B4-BE49-F238E27FC236}">
                <a16:creationId xmlns:a16="http://schemas.microsoft.com/office/drawing/2014/main" id="{39DB49CB-63AA-E480-142D-0C69F68ECB54}"/>
              </a:ext>
            </a:extLst>
          </p:cNvPr>
          <p:cNvGraphicFramePr>
            <a:graphicFrameLocks noGrp="1"/>
          </p:cNvGraphicFramePr>
          <p:nvPr>
            <p:ph idx="1"/>
            <p:extLst>
              <p:ext uri="{D42A27DB-BD31-4B8C-83A1-F6EECF244321}">
                <p14:modId xmlns:p14="http://schemas.microsoft.com/office/powerpoint/2010/main" val="1677571761"/>
              </p:ext>
            </p:extLst>
          </p:nvPr>
        </p:nvGraphicFramePr>
        <p:xfrm>
          <a:off x="1286933" y="1948543"/>
          <a:ext cx="9618133" cy="409348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947252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F4444CE-BC8D-4D61-B303-4C05614E62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29606FA-3F8B-A81C-3003-6778A76B6944}"/>
              </a:ext>
            </a:extLst>
          </p:cNvPr>
          <p:cNvSpPr>
            <a:spLocks noGrp="1"/>
          </p:cNvSpPr>
          <p:nvPr>
            <p:ph type="title"/>
          </p:nvPr>
        </p:nvSpPr>
        <p:spPr>
          <a:xfrm>
            <a:off x="1286933" y="609600"/>
            <a:ext cx="10197494" cy="1099457"/>
          </a:xfrm>
        </p:spPr>
        <p:txBody>
          <a:bodyPr>
            <a:normAutofit/>
          </a:bodyPr>
          <a:lstStyle/>
          <a:p>
            <a:r>
              <a:rPr lang="en-IN" dirty="0">
                <a:latin typeface="Times New Roman" panose="02020603050405020304" pitchFamily="18" charset="0"/>
                <a:cs typeface="Times New Roman" panose="02020603050405020304" pitchFamily="18" charset="0"/>
              </a:rPr>
              <a:t>Business Understanding</a:t>
            </a:r>
          </a:p>
        </p:txBody>
      </p:sp>
      <p:sp>
        <p:nvSpPr>
          <p:cNvPr id="11" name="Isosceles Triangle 10">
            <a:extLst>
              <a:ext uri="{FF2B5EF4-FFF2-40B4-BE49-F238E27FC236}">
                <a16:creationId xmlns:a16="http://schemas.microsoft.com/office/drawing/2014/main" id="{73772B81-181F-48B7-8826-4D9686D15D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3" name="Isosceles Triangle 12">
            <a:extLst>
              <a:ext uri="{FF2B5EF4-FFF2-40B4-BE49-F238E27FC236}">
                <a16:creationId xmlns:a16="http://schemas.microsoft.com/office/drawing/2014/main" id="{B2205F6E-03C6-4E92-877C-E2482F6599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1743267"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aphicFrame>
        <p:nvGraphicFramePr>
          <p:cNvPr id="5" name="Content Placeholder 2">
            <a:extLst>
              <a:ext uri="{FF2B5EF4-FFF2-40B4-BE49-F238E27FC236}">
                <a16:creationId xmlns:a16="http://schemas.microsoft.com/office/drawing/2014/main" id="{C7A7D37B-9338-0222-D58B-7D1A6806A41D}"/>
              </a:ext>
            </a:extLst>
          </p:cNvPr>
          <p:cNvGraphicFramePr>
            <a:graphicFrameLocks noGrp="1"/>
          </p:cNvGraphicFramePr>
          <p:nvPr>
            <p:ph idx="1"/>
            <p:extLst>
              <p:ext uri="{D42A27DB-BD31-4B8C-83A1-F6EECF244321}">
                <p14:modId xmlns:p14="http://schemas.microsoft.com/office/powerpoint/2010/main" val="1596771995"/>
              </p:ext>
            </p:extLst>
          </p:nvPr>
        </p:nvGraphicFramePr>
        <p:xfrm>
          <a:off x="1286933" y="1262744"/>
          <a:ext cx="9618133" cy="449579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306415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55AE6B0-AC9E-4167-806F-E9DB135FC4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2F823B8-3530-062E-AEEA-DBA5640A4D90}"/>
              </a:ext>
            </a:extLst>
          </p:cNvPr>
          <p:cNvSpPr>
            <a:spLocks noGrp="1"/>
          </p:cNvSpPr>
          <p:nvPr>
            <p:ph type="title"/>
          </p:nvPr>
        </p:nvSpPr>
        <p:spPr>
          <a:xfrm>
            <a:off x="652481" y="1382486"/>
            <a:ext cx="3547581" cy="4093028"/>
          </a:xfrm>
        </p:spPr>
        <p:txBody>
          <a:bodyPr anchor="ctr">
            <a:normAutofit/>
          </a:bodyPr>
          <a:lstStyle/>
          <a:p>
            <a:r>
              <a:rPr lang="en-IN" sz="4400">
                <a:latin typeface="Times New Roman" panose="02020603050405020304" pitchFamily="18" charset="0"/>
                <a:cs typeface="Times New Roman" panose="02020603050405020304" pitchFamily="18" charset="0"/>
              </a:rPr>
              <a:t>Introduction</a:t>
            </a:r>
          </a:p>
        </p:txBody>
      </p:sp>
      <p:grpSp>
        <p:nvGrpSpPr>
          <p:cNvPr id="11" name="Group 10">
            <a:extLst>
              <a:ext uri="{FF2B5EF4-FFF2-40B4-BE49-F238E27FC236}">
                <a16:creationId xmlns:a16="http://schemas.microsoft.com/office/drawing/2014/main" id="{3523416A-383B-4FDC-B4C9-D8EDDFE9C04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29267" y="-8467"/>
            <a:ext cx="4766733" cy="6866467"/>
            <a:chOff x="7425267" y="-8467"/>
            <a:chExt cx="4766733" cy="6866467"/>
          </a:xfrm>
        </p:grpSpPr>
        <p:cxnSp>
          <p:nvCxnSpPr>
            <p:cNvPr id="12" name="Straight Connector 11">
              <a:extLst>
                <a:ext uri="{FF2B5EF4-FFF2-40B4-BE49-F238E27FC236}">
                  <a16:creationId xmlns:a16="http://schemas.microsoft.com/office/drawing/2014/main" id="{CB0D29D5-3F7C-4197-821B-6D60A66CC04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rgbClr val="BFBFBF">
                  <a:alpha val="75000"/>
                </a:srgbClr>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347FB49A-3541-428A-AADE-682A3C50563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rgbClr val="BFBFBF">
                  <a:alpha val="80000"/>
                </a:srgbClr>
              </a:solidFill>
            </a:ln>
          </p:spPr>
          <p:style>
            <a:lnRef idx="2">
              <a:schemeClr val="accent1"/>
            </a:lnRef>
            <a:fillRef idx="0">
              <a:schemeClr val="accent1"/>
            </a:fillRef>
            <a:effectRef idx="1">
              <a:schemeClr val="accent1"/>
            </a:effectRef>
            <a:fontRef idx="minor">
              <a:schemeClr val="tx1"/>
            </a:fontRef>
          </p:style>
        </p:cxnSp>
        <p:sp>
          <p:nvSpPr>
            <p:cNvPr id="14" name="Rectangle 23">
              <a:extLst>
                <a:ext uri="{FF2B5EF4-FFF2-40B4-BE49-F238E27FC236}">
                  <a16:creationId xmlns:a16="http://schemas.microsoft.com/office/drawing/2014/main" id="{D96F53DC-08F1-42C6-B558-B83D54B276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1" name="Rectangle 25">
              <a:extLst>
                <a:ext uri="{FF2B5EF4-FFF2-40B4-BE49-F238E27FC236}">
                  <a16:creationId xmlns:a16="http://schemas.microsoft.com/office/drawing/2014/main" id="{AFE48CAF-A51C-463F-A570-ED99439A5C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6" name="Isosceles Triangle 15">
              <a:extLst>
                <a:ext uri="{FF2B5EF4-FFF2-40B4-BE49-F238E27FC236}">
                  <a16:creationId xmlns:a16="http://schemas.microsoft.com/office/drawing/2014/main" id="{01F0C48B-50FF-4351-8207-16D0960483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3" name="Rectangle 27">
              <a:extLst>
                <a:ext uri="{FF2B5EF4-FFF2-40B4-BE49-F238E27FC236}">
                  <a16:creationId xmlns:a16="http://schemas.microsoft.com/office/drawing/2014/main" id="{300384B6-5ED6-4F91-A548-B706D83751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8" name="Rectangle 28">
              <a:extLst>
                <a:ext uri="{FF2B5EF4-FFF2-40B4-BE49-F238E27FC236}">
                  <a16:creationId xmlns:a16="http://schemas.microsoft.com/office/drawing/2014/main" id="{337AFFAE-C182-463C-9459-8AB3C69D9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9" name="Rectangle 29">
              <a:extLst>
                <a:ext uri="{FF2B5EF4-FFF2-40B4-BE49-F238E27FC236}">
                  <a16:creationId xmlns:a16="http://schemas.microsoft.com/office/drawing/2014/main" id="{510ACF17-C3F0-42BF-BDEB-D079277121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0" name="Isosceles Triangle 19">
              <a:extLst>
                <a:ext uri="{FF2B5EF4-FFF2-40B4-BE49-F238E27FC236}">
                  <a16:creationId xmlns:a16="http://schemas.microsoft.com/office/drawing/2014/main" id="{E804EFD0-B84E-476F-9FC6-6C4A42EA00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2" name="Rectangle 21">
            <a:extLst>
              <a:ext uri="{FF2B5EF4-FFF2-40B4-BE49-F238E27FC236}">
                <a16:creationId xmlns:a16="http://schemas.microsoft.com/office/drawing/2014/main" id="{87BD1F4E-A66D-4C06-86DA-8D56CA7A3B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77719" y="0"/>
            <a:ext cx="621428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4" name="Content Placeholder 2">
            <a:extLst>
              <a:ext uri="{FF2B5EF4-FFF2-40B4-BE49-F238E27FC236}">
                <a16:creationId xmlns:a16="http://schemas.microsoft.com/office/drawing/2014/main" id="{E90BDE34-3326-F85F-8E22-7B8F3FEAF46B}"/>
              </a:ext>
            </a:extLst>
          </p:cNvPr>
          <p:cNvGraphicFramePr>
            <a:graphicFrameLocks noGrp="1"/>
          </p:cNvGraphicFramePr>
          <p:nvPr>
            <p:ph idx="1"/>
            <p:extLst>
              <p:ext uri="{D42A27DB-BD31-4B8C-83A1-F6EECF244321}">
                <p14:modId xmlns:p14="http://schemas.microsoft.com/office/powerpoint/2010/main" val="1433166709"/>
              </p:ext>
            </p:extLst>
          </p:nvPr>
        </p:nvGraphicFramePr>
        <p:xfrm>
          <a:off x="4916553" y="944563"/>
          <a:ext cx="6628804" cy="497958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679067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34" name="Group 33">
            <a:extLst>
              <a:ext uri="{FF2B5EF4-FFF2-40B4-BE49-F238E27FC236}">
                <a16:creationId xmlns:a16="http://schemas.microsoft.com/office/drawing/2014/main" id="{B4DE830A-B531-4A3B-96F6-0ECE88B0855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12" name="Straight Connector 11">
              <a:extLst>
                <a:ext uri="{FF2B5EF4-FFF2-40B4-BE49-F238E27FC236}">
                  <a16:creationId xmlns:a16="http://schemas.microsoft.com/office/drawing/2014/main" id="{2813DF2C-461A-4A8F-9679-A172790D1F3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54CD3A85-C039-4249-86E4-1EB9318B549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4" name="Rectangle 23">
              <a:extLst>
                <a:ext uri="{FF2B5EF4-FFF2-40B4-BE49-F238E27FC236}">
                  <a16:creationId xmlns:a16="http://schemas.microsoft.com/office/drawing/2014/main" id="{887EA6D2-2883-42C2-993D-094CA6D65D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5" name="Rectangle 25">
              <a:extLst>
                <a:ext uri="{FF2B5EF4-FFF2-40B4-BE49-F238E27FC236}">
                  <a16:creationId xmlns:a16="http://schemas.microsoft.com/office/drawing/2014/main" id="{3B895046-636F-4D1B-ACA4-29AA0CB332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6" name="Isosceles Triangle 15">
              <a:extLst>
                <a:ext uri="{FF2B5EF4-FFF2-40B4-BE49-F238E27FC236}">
                  <a16:creationId xmlns:a16="http://schemas.microsoft.com/office/drawing/2014/main" id="{C6B0CDE3-E054-4EDD-A43B-F96843D8BF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6" name="Rectangle 27">
              <a:extLst>
                <a:ext uri="{FF2B5EF4-FFF2-40B4-BE49-F238E27FC236}">
                  <a16:creationId xmlns:a16="http://schemas.microsoft.com/office/drawing/2014/main" id="{3B66B1A2-F145-4C9B-85CC-4BF30D58CB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8" name="Rectangle 28">
              <a:extLst>
                <a:ext uri="{FF2B5EF4-FFF2-40B4-BE49-F238E27FC236}">
                  <a16:creationId xmlns:a16="http://schemas.microsoft.com/office/drawing/2014/main" id="{5D4FC972-94B3-4035-8D31-E668C132B4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9" name="Rectangle 29">
              <a:extLst>
                <a:ext uri="{FF2B5EF4-FFF2-40B4-BE49-F238E27FC236}">
                  <a16:creationId xmlns:a16="http://schemas.microsoft.com/office/drawing/2014/main" id="{374B9941-AFBE-4A77-A50E-B6EA04A746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0" name="Isosceles Triangle 19">
              <a:extLst>
                <a:ext uri="{FF2B5EF4-FFF2-40B4-BE49-F238E27FC236}">
                  <a16:creationId xmlns:a16="http://schemas.microsoft.com/office/drawing/2014/main" id="{27A982C5-2C38-4CE9-BC18-94697AD657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1" name="Isosceles Triangle 20">
              <a:extLst>
                <a:ext uri="{FF2B5EF4-FFF2-40B4-BE49-F238E27FC236}">
                  <a16:creationId xmlns:a16="http://schemas.microsoft.com/office/drawing/2014/main" id="{0060D8D1-7BB1-498F-AFBB-ADAC130A9E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1">
            <a:extLst>
              <a:ext uri="{FF2B5EF4-FFF2-40B4-BE49-F238E27FC236}">
                <a16:creationId xmlns:a16="http://schemas.microsoft.com/office/drawing/2014/main" id="{DF453B34-3ACC-05F0-F459-474B388909B0}"/>
              </a:ext>
            </a:extLst>
          </p:cNvPr>
          <p:cNvSpPr>
            <a:spLocks noGrp="1"/>
          </p:cNvSpPr>
          <p:nvPr>
            <p:ph type="title"/>
          </p:nvPr>
        </p:nvSpPr>
        <p:spPr>
          <a:xfrm>
            <a:off x="985969" y="4553712"/>
            <a:ext cx="8288032" cy="1096316"/>
          </a:xfrm>
        </p:spPr>
        <p:txBody>
          <a:bodyPr vert="horz" lIns="91440" tIns="45720" rIns="91440" bIns="45720" rtlCol="0" anchor="b">
            <a:normAutofit/>
          </a:bodyPr>
          <a:lstStyle/>
          <a:p>
            <a:pPr algn="ctr"/>
            <a:r>
              <a:rPr lang="en-US" sz="4800" kern="1200">
                <a:solidFill>
                  <a:schemeClr val="accent1"/>
                </a:solidFill>
                <a:latin typeface="+mj-lt"/>
                <a:ea typeface="+mj-ea"/>
                <a:cs typeface="+mj-cs"/>
              </a:rPr>
              <a:t>Project Architecture</a:t>
            </a:r>
          </a:p>
        </p:txBody>
      </p:sp>
      <p:sp>
        <p:nvSpPr>
          <p:cNvPr id="4" name="Content Placeholder 3">
            <a:extLst>
              <a:ext uri="{FF2B5EF4-FFF2-40B4-BE49-F238E27FC236}">
                <a16:creationId xmlns:a16="http://schemas.microsoft.com/office/drawing/2014/main" id="{91743132-DF28-2349-8D47-F8087E3A40D0}"/>
              </a:ext>
            </a:extLst>
          </p:cNvPr>
          <p:cNvSpPr>
            <a:spLocks noGrp="1"/>
          </p:cNvSpPr>
          <p:nvPr>
            <p:ph idx="1"/>
          </p:nvPr>
        </p:nvSpPr>
        <p:spPr>
          <a:xfrm>
            <a:off x="985969" y="5650029"/>
            <a:ext cx="8288032" cy="469122"/>
          </a:xfrm>
        </p:spPr>
        <p:txBody>
          <a:bodyPr vert="horz" lIns="91440" tIns="45720" rIns="91440" bIns="45720" rtlCol="0" anchor="t">
            <a:normAutofit/>
          </a:bodyPr>
          <a:lstStyle/>
          <a:p>
            <a:pPr marL="0" indent="0" algn="ctr">
              <a:buNone/>
            </a:pPr>
            <a:r>
              <a:rPr lang="en-US">
                <a:solidFill>
                  <a:schemeClr val="tx1">
                    <a:lumMod val="50000"/>
                    <a:lumOff val="50000"/>
                  </a:schemeClr>
                </a:solidFill>
              </a:rPr>
              <a:t>a</a:t>
            </a:r>
          </a:p>
        </p:txBody>
      </p:sp>
      <p:pic>
        <p:nvPicPr>
          <p:cNvPr id="6" name="Picture 5">
            <a:extLst>
              <a:ext uri="{FF2B5EF4-FFF2-40B4-BE49-F238E27FC236}">
                <a16:creationId xmlns:a16="http://schemas.microsoft.com/office/drawing/2014/main" id="{F4ADF74A-9008-EDC3-819F-1F4FB1C81504}"/>
              </a:ext>
            </a:extLst>
          </p:cNvPr>
          <p:cNvPicPr>
            <a:picLocks noChangeAspect="1"/>
          </p:cNvPicPr>
          <p:nvPr/>
        </p:nvPicPr>
        <p:blipFill>
          <a:blip r:embed="rId2"/>
          <a:stretch>
            <a:fillRect/>
          </a:stretch>
        </p:blipFill>
        <p:spPr>
          <a:xfrm>
            <a:off x="1248278" y="934222"/>
            <a:ext cx="7763412" cy="3299450"/>
          </a:xfrm>
          <a:prstGeom prst="rect">
            <a:avLst/>
          </a:prstGeom>
        </p:spPr>
      </p:pic>
    </p:spTree>
    <p:extLst>
      <p:ext uri="{BB962C8B-B14F-4D97-AF65-F5344CB8AC3E}">
        <p14:creationId xmlns:p14="http://schemas.microsoft.com/office/powerpoint/2010/main" val="5643856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9F4444CE-BC8D-4D61-B303-4C05614E62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C955BAD-F514-9987-5CFE-5C10080FC75B}"/>
              </a:ext>
            </a:extLst>
          </p:cNvPr>
          <p:cNvSpPr>
            <a:spLocks noGrp="1"/>
          </p:cNvSpPr>
          <p:nvPr>
            <p:ph type="title"/>
          </p:nvPr>
        </p:nvSpPr>
        <p:spPr>
          <a:xfrm>
            <a:off x="1286933" y="609600"/>
            <a:ext cx="10197494" cy="1099457"/>
          </a:xfrm>
        </p:spPr>
        <p:txBody>
          <a:bodyPr>
            <a:normAutofit/>
          </a:bodyPr>
          <a:lstStyle/>
          <a:p>
            <a:r>
              <a:rPr lang="en-US" dirty="0">
                <a:latin typeface="Times New Roman" panose="02020603050405020304" pitchFamily="18" charset="0"/>
                <a:cs typeface="Times New Roman" panose="02020603050405020304" pitchFamily="18" charset="0"/>
              </a:rPr>
              <a:t>Datasets Information</a:t>
            </a:r>
            <a:endParaRPr lang="en-IN" dirty="0">
              <a:latin typeface="Times New Roman" panose="02020603050405020304" pitchFamily="18" charset="0"/>
              <a:cs typeface="Times New Roman" panose="02020603050405020304" pitchFamily="18" charset="0"/>
            </a:endParaRPr>
          </a:p>
        </p:txBody>
      </p:sp>
      <p:sp>
        <p:nvSpPr>
          <p:cNvPr id="28" name="Isosceles Triangle 27">
            <a:extLst>
              <a:ext uri="{FF2B5EF4-FFF2-40B4-BE49-F238E27FC236}">
                <a16:creationId xmlns:a16="http://schemas.microsoft.com/office/drawing/2014/main" id="{73772B81-181F-48B7-8826-4D9686D15D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9" name="Isosceles Triangle 28">
            <a:extLst>
              <a:ext uri="{FF2B5EF4-FFF2-40B4-BE49-F238E27FC236}">
                <a16:creationId xmlns:a16="http://schemas.microsoft.com/office/drawing/2014/main" id="{B2205F6E-03C6-4E92-877C-E2482F6599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1743267"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aphicFrame>
        <p:nvGraphicFramePr>
          <p:cNvPr id="30" name="Content Placeholder 2">
            <a:extLst>
              <a:ext uri="{FF2B5EF4-FFF2-40B4-BE49-F238E27FC236}">
                <a16:creationId xmlns:a16="http://schemas.microsoft.com/office/drawing/2014/main" id="{E195CC80-157B-B95D-7347-0237E883B83D}"/>
              </a:ext>
            </a:extLst>
          </p:cNvPr>
          <p:cNvGraphicFramePr>
            <a:graphicFrameLocks noGrp="1"/>
          </p:cNvGraphicFramePr>
          <p:nvPr>
            <p:ph idx="1"/>
            <p:extLst>
              <p:ext uri="{D42A27DB-BD31-4B8C-83A1-F6EECF244321}">
                <p14:modId xmlns:p14="http://schemas.microsoft.com/office/powerpoint/2010/main" val="889025360"/>
              </p:ext>
            </p:extLst>
          </p:nvPr>
        </p:nvGraphicFramePr>
        <p:xfrm>
          <a:off x="1286933" y="1948543"/>
          <a:ext cx="9618133" cy="409348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517079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03C959E9-DFCC-9912-3796-D06008ED3765}"/>
              </a:ext>
            </a:extLst>
          </p:cNvPr>
          <p:cNvGraphicFramePr>
            <a:graphicFrameLocks noGrp="1"/>
          </p:cNvGraphicFramePr>
          <p:nvPr>
            <p:ph idx="1"/>
            <p:extLst>
              <p:ext uri="{D42A27DB-BD31-4B8C-83A1-F6EECF244321}">
                <p14:modId xmlns:p14="http://schemas.microsoft.com/office/powerpoint/2010/main" val="1858394248"/>
              </p:ext>
            </p:extLst>
          </p:nvPr>
        </p:nvGraphicFramePr>
        <p:xfrm>
          <a:off x="669614" y="0"/>
          <a:ext cx="10847716" cy="6226368"/>
        </p:xfrm>
        <a:graphic>
          <a:graphicData uri="http://schemas.openxmlformats.org/drawingml/2006/table">
            <a:tbl>
              <a:tblPr firstRow="1" bandRow="1">
                <a:tableStyleId>{5C22544A-7EE6-4342-B048-85BDC9FD1C3A}</a:tableStyleId>
              </a:tblPr>
              <a:tblGrid>
                <a:gridCol w="544830">
                  <a:extLst>
                    <a:ext uri="{9D8B030D-6E8A-4147-A177-3AD203B41FA5}">
                      <a16:colId xmlns:a16="http://schemas.microsoft.com/office/drawing/2014/main" val="1420537627"/>
                    </a:ext>
                  </a:extLst>
                </a:gridCol>
                <a:gridCol w="1497394">
                  <a:extLst>
                    <a:ext uri="{9D8B030D-6E8A-4147-A177-3AD203B41FA5}">
                      <a16:colId xmlns:a16="http://schemas.microsoft.com/office/drawing/2014/main" val="2787142207"/>
                    </a:ext>
                  </a:extLst>
                </a:gridCol>
                <a:gridCol w="1268603">
                  <a:extLst>
                    <a:ext uri="{9D8B030D-6E8A-4147-A177-3AD203B41FA5}">
                      <a16:colId xmlns:a16="http://schemas.microsoft.com/office/drawing/2014/main" val="1295933670"/>
                    </a:ext>
                  </a:extLst>
                </a:gridCol>
                <a:gridCol w="4967969">
                  <a:extLst>
                    <a:ext uri="{9D8B030D-6E8A-4147-A177-3AD203B41FA5}">
                      <a16:colId xmlns:a16="http://schemas.microsoft.com/office/drawing/2014/main" val="2841255974"/>
                    </a:ext>
                  </a:extLst>
                </a:gridCol>
                <a:gridCol w="2568920">
                  <a:extLst>
                    <a:ext uri="{9D8B030D-6E8A-4147-A177-3AD203B41FA5}">
                      <a16:colId xmlns:a16="http://schemas.microsoft.com/office/drawing/2014/main" val="4009834594"/>
                    </a:ext>
                  </a:extLst>
                </a:gridCol>
              </a:tblGrid>
              <a:tr h="366288">
                <a:tc>
                  <a:txBody>
                    <a:bodyPr/>
                    <a:lstStyle/>
                    <a:p>
                      <a:r>
                        <a:rPr lang="en-US" sz="1200" dirty="0">
                          <a:latin typeface="Times New Roman" panose="02020603050405020304" pitchFamily="18" charset="0"/>
                          <a:cs typeface="Times New Roman" panose="02020603050405020304" pitchFamily="18" charset="0"/>
                        </a:rPr>
                        <a:t>S.</a:t>
                      </a:r>
                      <a:r>
                        <a:rPr lang="en-US" sz="1100" dirty="0">
                          <a:latin typeface="Times New Roman" panose="02020603050405020304" pitchFamily="18" charset="0"/>
                          <a:cs typeface="Times New Roman" panose="02020603050405020304" pitchFamily="18" charset="0"/>
                        </a:rPr>
                        <a:t>NO</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US" sz="1600" dirty="0">
                          <a:latin typeface="Times New Roman" panose="02020603050405020304" pitchFamily="18" charset="0"/>
                          <a:cs typeface="Times New Roman" panose="02020603050405020304" pitchFamily="18" charset="0"/>
                        </a:rPr>
                        <a:t>Feature Name</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US" sz="1800" dirty="0">
                          <a:latin typeface="Times New Roman" panose="02020603050405020304" pitchFamily="18" charset="0"/>
                          <a:cs typeface="Times New Roman" panose="02020603050405020304" pitchFamily="18" charset="0"/>
                        </a:rPr>
                        <a:t>Data Type</a:t>
                      </a:r>
                      <a:endParaRPr lang="en-IN" sz="1800" dirty="0">
                        <a:latin typeface="Times New Roman" panose="02020603050405020304" pitchFamily="18" charset="0"/>
                        <a:cs typeface="Times New Roman" panose="02020603050405020304" pitchFamily="18" charset="0"/>
                      </a:endParaRPr>
                    </a:p>
                  </a:txBody>
                  <a:tcPr/>
                </a:tc>
                <a:tc>
                  <a:txBody>
                    <a:bodyPr/>
                    <a:lstStyle/>
                    <a:p>
                      <a:r>
                        <a:rPr lang="en-US" sz="1800" dirty="0">
                          <a:latin typeface="Times New Roman" panose="02020603050405020304" pitchFamily="18" charset="0"/>
                          <a:cs typeface="Times New Roman" panose="02020603050405020304" pitchFamily="18" charset="0"/>
                        </a:rPr>
                        <a:t>Description</a:t>
                      </a:r>
                      <a:endParaRPr lang="en-IN" sz="1800" dirty="0">
                        <a:latin typeface="Times New Roman" panose="02020603050405020304" pitchFamily="18" charset="0"/>
                        <a:cs typeface="Times New Roman" panose="02020603050405020304" pitchFamily="18" charset="0"/>
                      </a:endParaRPr>
                    </a:p>
                  </a:txBody>
                  <a:tcPr/>
                </a:tc>
                <a:tc>
                  <a:txBody>
                    <a:bodyPr/>
                    <a:lstStyle/>
                    <a:p>
                      <a:r>
                        <a:rPr lang="en-US" sz="1800" dirty="0">
                          <a:latin typeface="Times New Roman" panose="02020603050405020304" pitchFamily="18" charset="0"/>
                          <a:cs typeface="Times New Roman" panose="02020603050405020304" pitchFamily="18" charset="0"/>
                        </a:rPr>
                        <a:t>Units</a:t>
                      </a:r>
                      <a:endParaRPr lang="en-IN"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960839847"/>
                  </a:ext>
                </a:extLst>
              </a:tr>
              <a:tr h="366288">
                <a:tc>
                  <a:txBody>
                    <a:bodyPr/>
                    <a:lstStyle/>
                    <a:p>
                      <a:r>
                        <a:rPr lang="en-US" sz="1800" dirty="0">
                          <a:latin typeface="Times New Roman" panose="02020603050405020304" pitchFamily="18" charset="0"/>
                          <a:cs typeface="Times New Roman" panose="02020603050405020304" pitchFamily="18" charset="0"/>
                        </a:rPr>
                        <a:t>1)</a:t>
                      </a:r>
                      <a:endParaRPr lang="en-IN" sz="1800" dirty="0">
                        <a:latin typeface="Times New Roman" panose="02020603050405020304" pitchFamily="18" charset="0"/>
                        <a:cs typeface="Times New Roman" panose="02020603050405020304" pitchFamily="18" charset="0"/>
                      </a:endParaRPr>
                    </a:p>
                  </a:txBody>
                  <a:tcPr/>
                </a:tc>
                <a:tc>
                  <a:txBody>
                    <a:bodyPr/>
                    <a:lstStyle/>
                    <a:p>
                      <a:r>
                        <a:rPr lang="en-US" sz="1800" dirty="0">
                          <a:latin typeface="Times New Roman" panose="02020603050405020304" pitchFamily="18" charset="0"/>
                          <a:cs typeface="Times New Roman" panose="02020603050405020304" pitchFamily="18" charset="0"/>
                        </a:rPr>
                        <a:t>PM2.5</a:t>
                      </a:r>
                      <a:endParaRPr lang="en-IN" sz="1800" dirty="0">
                        <a:latin typeface="Times New Roman" panose="02020603050405020304" pitchFamily="18" charset="0"/>
                        <a:cs typeface="Times New Roman" panose="02020603050405020304" pitchFamily="18" charset="0"/>
                      </a:endParaRPr>
                    </a:p>
                  </a:txBody>
                  <a:tcPr/>
                </a:tc>
                <a:tc>
                  <a:txBody>
                    <a:bodyPr/>
                    <a:lstStyle/>
                    <a:p>
                      <a:r>
                        <a:rPr lang="en-US" sz="1800" dirty="0">
                          <a:latin typeface="Times New Roman" panose="02020603050405020304" pitchFamily="18" charset="0"/>
                          <a:cs typeface="Times New Roman" panose="02020603050405020304" pitchFamily="18" charset="0"/>
                        </a:rPr>
                        <a:t>Numeric</a:t>
                      </a:r>
                      <a:endParaRPr lang="en-IN" sz="1800" dirty="0">
                        <a:latin typeface="Times New Roman" panose="02020603050405020304" pitchFamily="18" charset="0"/>
                        <a:cs typeface="Times New Roman" panose="02020603050405020304" pitchFamily="18" charset="0"/>
                      </a:endParaRPr>
                    </a:p>
                  </a:txBody>
                  <a:tcPr/>
                </a:tc>
                <a:tc>
                  <a:txBody>
                    <a:bodyPr/>
                    <a:lstStyle/>
                    <a:p>
                      <a:r>
                        <a:rPr lang="en-US" sz="1800" dirty="0">
                          <a:latin typeface="Times New Roman" panose="02020603050405020304" pitchFamily="18" charset="0"/>
                          <a:cs typeface="Times New Roman" panose="02020603050405020304" pitchFamily="18" charset="0"/>
                        </a:rPr>
                        <a:t>Actual daily pm2.5 concentration</a:t>
                      </a:r>
                      <a:endParaRPr lang="en-IN" sz="1800" dirty="0">
                        <a:latin typeface="Times New Roman" panose="02020603050405020304" pitchFamily="18" charset="0"/>
                        <a:cs typeface="Times New Roman" panose="02020603050405020304" pitchFamily="18" charset="0"/>
                      </a:endParaRPr>
                    </a:p>
                  </a:txBody>
                  <a:tcPr/>
                </a:tc>
                <a:tc>
                  <a:txBody>
                    <a:bodyPr/>
                    <a:lstStyle/>
                    <a:p>
                      <a:r>
                        <a:rPr lang="en-IN" dirty="0">
                          <a:latin typeface="Times New Roman" panose="02020603050405020304" pitchFamily="18" charset="0"/>
                          <a:cs typeface="Times New Roman" panose="02020603050405020304" pitchFamily="18" charset="0"/>
                        </a:rPr>
                        <a:t>µg/m³</a:t>
                      </a:r>
                      <a:endParaRPr lang="en-IN"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71517131"/>
                  </a:ext>
                </a:extLst>
              </a:tr>
              <a:tr h="366288">
                <a:tc>
                  <a:txBody>
                    <a:bodyPr/>
                    <a:lstStyle/>
                    <a:p>
                      <a:r>
                        <a:rPr lang="en-US" sz="1800" dirty="0">
                          <a:latin typeface="Times New Roman" panose="02020603050405020304" pitchFamily="18" charset="0"/>
                          <a:cs typeface="Times New Roman" panose="02020603050405020304" pitchFamily="18" charset="0"/>
                        </a:rPr>
                        <a:t>2)</a:t>
                      </a:r>
                      <a:endParaRPr lang="en-IN" sz="1800" dirty="0">
                        <a:latin typeface="Times New Roman" panose="02020603050405020304" pitchFamily="18" charset="0"/>
                        <a:cs typeface="Times New Roman" panose="02020603050405020304" pitchFamily="18" charset="0"/>
                      </a:endParaRPr>
                    </a:p>
                  </a:txBody>
                  <a:tcPr/>
                </a:tc>
                <a:tc>
                  <a:txBody>
                    <a:bodyPr/>
                    <a:lstStyle/>
                    <a:p>
                      <a:r>
                        <a:rPr lang="en-US" sz="1800" dirty="0">
                          <a:latin typeface="Times New Roman" panose="02020603050405020304" pitchFamily="18" charset="0"/>
                          <a:cs typeface="Times New Roman" panose="02020603050405020304" pitchFamily="18" charset="0"/>
                        </a:rPr>
                        <a:t>TEMP_C</a:t>
                      </a:r>
                      <a:endParaRPr lang="en-IN" sz="18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latin typeface="Times New Roman" panose="02020603050405020304" pitchFamily="18" charset="0"/>
                          <a:cs typeface="Times New Roman" panose="02020603050405020304" pitchFamily="18" charset="0"/>
                        </a:rPr>
                        <a:t>Numeric</a:t>
                      </a:r>
                      <a:endParaRPr lang="en-IN" sz="1800" dirty="0">
                        <a:latin typeface="Times New Roman" panose="02020603050405020304" pitchFamily="18" charset="0"/>
                        <a:cs typeface="Times New Roman" panose="02020603050405020304" pitchFamily="18" charset="0"/>
                      </a:endParaRPr>
                    </a:p>
                  </a:txBody>
                  <a:tcPr/>
                </a:tc>
                <a:tc>
                  <a:txBody>
                    <a:bodyPr/>
                    <a:lstStyle/>
                    <a:p>
                      <a:r>
                        <a:rPr lang="en-US" sz="1800" dirty="0">
                          <a:latin typeface="Times New Roman" panose="02020603050405020304" pitchFamily="18" charset="0"/>
                          <a:cs typeface="Times New Roman" panose="02020603050405020304" pitchFamily="18" charset="0"/>
                        </a:rPr>
                        <a:t>Average daily air temperature</a:t>
                      </a:r>
                      <a:endParaRPr lang="en-IN" sz="1800" dirty="0">
                        <a:latin typeface="Times New Roman" panose="02020603050405020304" pitchFamily="18" charset="0"/>
                        <a:cs typeface="Times New Roman" panose="02020603050405020304" pitchFamily="18" charset="0"/>
                      </a:endParaRPr>
                    </a:p>
                  </a:txBody>
                  <a:tcPr/>
                </a:tc>
                <a:tc>
                  <a:txBody>
                    <a:bodyPr/>
                    <a:lstStyle/>
                    <a:p>
                      <a:r>
                        <a:rPr lang="en-US" sz="1800" dirty="0">
                          <a:latin typeface="Times New Roman" panose="02020603050405020304" pitchFamily="18" charset="0"/>
                          <a:cs typeface="Times New Roman" panose="02020603050405020304" pitchFamily="18" charset="0"/>
                        </a:rPr>
                        <a:t>C</a:t>
                      </a:r>
                      <a:endParaRPr lang="en-IN"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694293690"/>
                  </a:ext>
                </a:extLst>
              </a:tr>
              <a:tr h="366288">
                <a:tc>
                  <a:txBody>
                    <a:bodyPr/>
                    <a:lstStyle/>
                    <a:p>
                      <a:r>
                        <a:rPr lang="en-US" sz="1800" dirty="0">
                          <a:latin typeface="Times New Roman" panose="02020603050405020304" pitchFamily="18" charset="0"/>
                          <a:cs typeface="Times New Roman" panose="02020603050405020304" pitchFamily="18" charset="0"/>
                        </a:rPr>
                        <a:t>3)</a:t>
                      </a:r>
                      <a:endParaRPr lang="en-IN" sz="1800" dirty="0">
                        <a:latin typeface="Times New Roman" panose="02020603050405020304" pitchFamily="18" charset="0"/>
                        <a:cs typeface="Times New Roman" panose="02020603050405020304" pitchFamily="18" charset="0"/>
                      </a:endParaRPr>
                    </a:p>
                  </a:txBody>
                  <a:tcPr/>
                </a:tc>
                <a:tc>
                  <a:txBody>
                    <a:bodyPr/>
                    <a:lstStyle/>
                    <a:p>
                      <a:r>
                        <a:rPr lang="en-US" sz="1800" dirty="0">
                          <a:latin typeface="Times New Roman" panose="02020603050405020304" pitchFamily="18" charset="0"/>
                          <a:cs typeface="Times New Roman" panose="02020603050405020304" pitchFamily="18" charset="0"/>
                        </a:rPr>
                        <a:t>PRCP_MM</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latin typeface="Times New Roman" panose="02020603050405020304" pitchFamily="18" charset="0"/>
                          <a:cs typeface="Times New Roman" panose="02020603050405020304" pitchFamily="18" charset="0"/>
                        </a:rPr>
                        <a:t>Numeric</a:t>
                      </a:r>
                      <a:endParaRPr lang="en-IN" sz="1800" dirty="0">
                        <a:latin typeface="Times New Roman" panose="02020603050405020304" pitchFamily="18" charset="0"/>
                        <a:cs typeface="Times New Roman" panose="02020603050405020304" pitchFamily="18" charset="0"/>
                      </a:endParaRPr>
                    </a:p>
                  </a:txBody>
                  <a:tcPr/>
                </a:tc>
                <a:tc>
                  <a:txBody>
                    <a:bodyPr/>
                    <a:lstStyle/>
                    <a:p>
                      <a:r>
                        <a:rPr lang="en-US" sz="1800" dirty="0">
                          <a:latin typeface="Times New Roman" panose="02020603050405020304" pitchFamily="18" charset="0"/>
                          <a:cs typeface="Times New Roman" panose="02020603050405020304" pitchFamily="18" charset="0"/>
                        </a:rPr>
                        <a:t>Daily total precipitation</a:t>
                      </a:r>
                      <a:endParaRPr lang="en-IN" sz="1800" dirty="0">
                        <a:latin typeface="Times New Roman" panose="02020603050405020304" pitchFamily="18" charset="0"/>
                        <a:cs typeface="Times New Roman" panose="02020603050405020304" pitchFamily="18" charset="0"/>
                      </a:endParaRPr>
                    </a:p>
                  </a:txBody>
                  <a:tcPr/>
                </a:tc>
                <a:tc>
                  <a:txBody>
                    <a:bodyPr/>
                    <a:lstStyle/>
                    <a:p>
                      <a:r>
                        <a:rPr lang="en-US" sz="1800" dirty="0">
                          <a:latin typeface="Times New Roman" panose="02020603050405020304" pitchFamily="18" charset="0"/>
                          <a:cs typeface="Times New Roman" panose="02020603050405020304" pitchFamily="18" charset="0"/>
                        </a:rPr>
                        <a:t>Millimeters(mm)</a:t>
                      </a:r>
                      <a:endParaRPr lang="en-IN"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596817928"/>
                  </a:ext>
                </a:extLst>
              </a:tr>
              <a:tr h="366288">
                <a:tc>
                  <a:txBody>
                    <a:bodyPr/>
                    <a:lstStyle/>
                    <a:p>
                      <a:r>
                        <a:rPr lang="en-US" sz="1800" dirty="0">
                          <a:latin typeface="Times New Roman" panose="02020603050405020304" pitchFamily="18" charset="0"/>
                          <a:cs typeface="Times New Roman" panose="02020603050405020304" pitchFamily="18" charset="0"/>
                        </a:rPr>
                        <a:t>4)</a:t>
                      </a:r>
                      <a:endParaRPr lang="en-IN" sz="1800" dirty="0">
                        <a:latin typeface="Times New Roman" panose="02020603050405020304" pitchFamily="18" charset="0"/>
                        <a:cs typeface="Times New Roman" panose="02020603050405020304" pitchFamily="18" charset="0"/>
                      </a:endParaRPr>
                    </a:p>
                  </a:txBody>
                  <a:tcPr/>
                </a:tc>
                <a:tc>
                  <a:txBody>
                    <a:bodyPr/>
                    <a:lstStyle/>
                    <a:p>
                      <a:r>
                        <a:rPr lang="en-US" sz="1800" dirty="0">
                          <a:latin typeface="Times New Roman" panose="02020603050405020304" pitchFamily="18" charset="0"/>
                          <a:cs typeface="Times New Roman" panose="02020603050405020304" pitchFamily="18" charset="0"/>
                        </a:rPr>
                        <a:t>WDSP_MS</a:t>
                      </a:r>
                      <a:endParaRPr lang="en-IN" sz="18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latin typeface="Times New Roman" panose="02020603050405020304" pitchFamily="18" charset="0"/>
                          <a:cs typeface="Times New Roman" panose="02020603050405020304" pitchFamily="18" charset="0"/>
                        </a:rPr>
                        <a:t>Numeric</a:t>
                      </a:r>
                      <a:endParaRPr lang="en-IN" sz="1800" dirty="0">
                        <a:latin typeface="Times New Roman" panose="02020603050405020304" pitchFamily="18" charset="0"/>
                        <a:cs typeface="Times New Roman" panose="02020603050405020304" pitchFamily="18" charset="0"/>
                      </a:endParaRPr>
                    </a:p>
                  </a:txBody>
                  <a:tcPr/>
                </a:tc>
                <a:tc>
                  <a:txBody>
                    <a:bodyPr/>
                    <a:lstStyle/>
                    <a:p>
                      <a:r>
                        <a:rPr lang="en-US" sz="1800" dirty="0">
                          <a:latin typeface="Times New Roman" panose="02020603050405020304" pitchFamily="18" charset="0"/>
                          <a:cs typeface="Times New Roman" panose="02020603050405020304" pitchFamily="18" charset="0"/>
                        </a:rPr>
                        <a:t>Average daily windspeed</a:t>
                      </a:r>
                      <a:endParaRPr lang="en-IN" sz="1800" dirty="0">
                        <a:latin typeface="Times New Roman" panose="02020603050405020304" pitchFamily="18" charset="0"/>
                        <a:cs typeface="Times New Roman" panose="02020603050405020304" pitchFamily="18" charset="0"/>
                      </a:endParaRPr>
                    </a:p>
                  </a:txBody>
                  <a:tcPr/>
                </a:tc>
                <a:tc>
                  <a:txBody>
                    <a:bodyPr/>
                    <a:lstStyle/>
                    <a:p>
                      <a:r>
                        <a:rPr lang="en-US" sz="1800" dirty="0">
                          <a:latin typeface="Times New Roman" panose="02020603050405020304" pitchFamily="18" charset="0"/>
                          <a:cs typeface="Times New Roman" panose="02020603050405020304" pitchFamily="18" charset="0"/>
                        </a:rPr>
                        <a:t>Meters per second(m/s)</a:t>
                      </a:r>
                      <a:endParaRPr lang="en-IN"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019037659"/>
                  </a:ext>
                </a:extLst>
              </a:tr>
              <a:tr h="366288">
                <a:tc>
                  <a:txBody>
                    <a:bodyPr/>
                    <a:lstStyle/>
                    <a:p>
                      <a:r>
                        <a:rPr lang="en-US" sz="1800" dirty="0">
                          <a:latin typeface="Times New Roman" panose="02020603050405020304" pitchFamily="18" charset="0"/>
                          <a:cs typeface="Times New Roman" panose="02020603050405020304" pitchFamily="18" charset="0"/>
                        </a:rPr>
                        <a:t>5)</a:t>
                      </a:r>
                      <a:endParaRPr lang="en-IN" sz="1800" dirty="0">
                        <a:latin typeface="Times New Roman" panose="02020603050405020304" pitchFamily="18" charset="0"/>
                        <a:cs typeface="Times New Roman" panose="02020603050405020304" pitchFamily="18" charset="0"/>
                      </a:endParaRPr>
                    </a:p>
                  </a:txBody>
                  <a:tcPr/>
                </a:tc>
                <a:tc>
                  <a:txBody>
                    <a:bodyPr/>
                    <a:lstStyle/>
                    <a:p>
                      <a:r>
                        <a:rPr lang="en-US" sz="1800" dirty="0">
                          <a:latin typeface="Times New Roman" panose="02020603050405020304" pitchFamily="18" charset="0"/>
                          <a:cs typeface="Times New Roman" panose="02020603050405020304" pitchFamily="18" charset="0"/>
                        </a:rPr>
                        <a:t>VISIB</a:t>
                      </a:r>
                      <a:endParaRPr lang="en-IN" sz="18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latin typeface="Times New Roman" panose="02020603050405020304" pitchFamily="18" charset="0"/>
                          <a:cs typeface="Times New Roman" panose="02020603050405020304" pitchFamily="18" charset="0"/>
                        </a:rPr>
                        <a:t>Numeric</a:t>
                      </a:r>
                      <a:endParaRPr lang="en-IN" sz="1800" dirty="0">
                        <a:latin typeface="Times New Roman" panose="02020603050405020304" pitchFamily="18" charset="0"/>
                        <a:cs typeface="Times New Roman" panose="02020603050405020304" pitchFamily="18" charset="0"/>
                      </a:endParaRPr>
                    </a:p>
                  </a:txBody>
                  <a:tcPr/>
                </a:tc>
                <a:tc>
                  <a:txBody>
                    <a:bodyPr/>
                    <a:lstStyle/>
                    <a:p>
                      <a:r>
                        <a:rPr lang="en-US" sz="1800" dirty="0">
                          <a:latin typeface="Times New Roman" panose="02020603050405020304" pitchFamily="18" charset="0"/>
                          <a:cs typeface="Times New Roman" panose="02020603050405020304" pitchFamily="18" charset="0"/>
                        </a:rPr>
                        <a:t>Average daily horizontal visibility</a:t>
                      </a:r>
                      <a:endParaRPr lang="en-IN" sz="1800" dirty="0">
                        <a:latin typeface="Times New Roman" panose="02020603050405020304" pitchFamily="18" charset="0"/>
                        <a:cs typeface="Times New Roman" panose="02020603050405020304" pitchFamily="18" charset="0"/>
                      </a:endParaRPr>
                    </a:p>
                  </a:txBody>
                  <a:tcPr/>
                </a:tc>
                <a:tc>
                  <a:txBody>
                    <a:bodyPr/>
                    <a:lstStyle/>
                    <a:p>
                      <a:r>
                        <a:rPr lang="en-US" sz="1800" dirty="0">
                          <a:latin typeface="Times New Roman" panose="02020603050405020304" pitchFamily="18" charset="0"/>
                          <a:cs typeface="Times New Roman" panose="02020603050405020304" pitchFamily="18" charset="0"/>
                        </a:rPr>
                        <a:t>Kilometers(km)</a:t>
                      </a:r>
                      <a:endParaRPr lang="en-IN"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081966051"/>
                  </a:ext>
                </a:extLst>
              </a:tr>
              <a:tr h="366288">
                <a:tc>
                  <a:txBody>
                    <a:bodyPr/>
                    <a:lstStyle/>
                    <a:p>
                      <a:r>
                        <a:rPr lang="en-US" sz="1800" dirty="0">
                          <a:latin typeface="Times New Roman" panose="02020603050405020304" pitchFamily="18" charset="0"/>
                          <a:cs typeface="Times New Roman" panose="02020603050405020304" pitchFamily="18" charset="0"/>
                        </a:rPr>
                        <a:t>6)</a:t>
                      </a:r>
                      <a:endParaRPr lang="en-IN" sz="1800" dirty="0">
                        <a:latin typeface="Times New Roman" panose="02020603050405020304" pitchFamily="18" charset="0"/>
                        <a:cs typeface="Times New Roman" panose="02020603050405020304" pitchFamily="18" charset="0"/>
                      </a:endParaRPr>
                    </a:p>
                  </a:txBody>
                  <a:tcPr/>
                </a:tc>
                <a:tc>
                  <a:txBody>
                    <a:bodyPr/>
                    <a:lstStyle/>
                    <a:p>
                      <a:r>
                        <a:rPr lang="en-US" sz="1800" dirty="0">
                          <a:latin typeface="Times New Roman" panose="02020603050405020304" pitchFamily="18" charset="0"/>
                          <a:cs typeface="Times New Roman" panose="02020603050405020304" pitchFamily="18" charset="0"/>
                        </a:rPr>
                        <a:t>RH</a:t>
                      </a:r>
                      <a:endParaRPr lang="en-IN" sz="18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latin typeface="Times New Roman" panose="02020603050405020304" pitchFamily="18" charset="0"/>
                          <a:cs typeface="Times New Roman" panose="02020603050405020304" pitchFamily="18" charset="0"/>
                        </a:rPr>
                        <a:t>Numeric</a:t>
                      </a:r>
                      <a:endParaRPr lang="en-IN" sz="1800" dirty="0">
                        <a:latin typeface="Times New Roman" panose="02020603050405020304" pitchFamily="18" charset="0"/>
                        <a:cs typeface="Times New Roman" panose="02020603050405020304" pitchFamily="18" charset="0"/>
                      </a:endParaRPr>
                    </a:p>
                  </a:txBody>
                  <a:tcPr/>
                </a:tc>
                <a:tc>
                  <a:txBody>
                    <a:bodyPr/>
                    <a:lstStyle/>
                    <a:p>
                      <a:r>
                        <a:rPr lang="en-US" sz="1800" dirty="0">
                          <a:latin typeface="Times New Roman" panose="02020603050405020304" pitchFamily="18" charset="0"/>
                          <a:cs typeface="Times New Roman" panose="02020603050405020304" pitchFamily="18" charset="0"/>
                        </a:rPr>
                        <a:t>Average daily relative humidity</a:t>
                      </a:r>
                      <a:endParaRPr lang="en-IN" sz="1800" dirty="0">
                        <a:latin typeface="Times New Roman" panose="02020603050405020304" pitchFamily="18" charset="0"/>
                        <a:cs typeface="Times New Roman" panose="02020603050405020304" pitchFamily="18" charset="0"/>
                      </a:endParaRPr>
                    </a:p>
                  </a:txBody>
                  <a:tcPr/>
                </a:tc>
                <a:tc>
                  <a:txBody>
                    <a:bodyPr/>
                    <a:lstStyle/>
                    <a:p>
                      <a:r>
                        <a:rPr lang="en-US" sz="1800" dirty="0">
                          <a:latin typeface="Times New Roman" panose="02020603050405020304" pitchFamily="18" charset="0"/>
                          <a:cs typeface="Times New Roman" panose="02020603050405020304" pitchFamily="18" charset="0"/>
                        </a:rPr>
                        <a:t>Percentage(%)</a:t>
                      </a:r>
                      <a:endParaRPr lang="en-IN"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25462247"/>
                  </a:ext>
                </a:extLst>
              </a:tr>
              <a:tr h="366288">
                <a:tc>
                  <a:txBody>
                    <a:bodyPr/>
                    <a:lstStyle/>
                    <a:p>
                      <a:r>
                        <a:rPr lang="en-US" sz="1800" dirty="0">
                          <a:latin typeface="Times New Roman" panose="02020603050405020304" pitchFamily="18" charset="0"/>
                          <a:cs typeface="Times New Roman" panose="02020603050405020304" pitchFamily="18" charset="0"/>
                        </a:rPr>
                        <a:t>7)</a:t>
                      </a:r>
                      <a:endParaRPr lang="en-IN" sz="1800" dirty="0">
                        <a:latin typeface="Times New Roman" panose="02020603050405020304" pitchFamily="18" charset="0"/>
                        <a:cs typeface="Times New Roman" panose="02020603050405020304" pitchFamily="18" charset="0"/>
                      </a:endParaRPr>
                    </a:p>
                  </a:txBody>
                  <a:tcPr/>
                </a:tc>
                <a:tc>
                  <a:txBody>
                    <a:bodyPr/>
                    <a:lstStyle/>
                    <a:p>
                      <a:r>
                        <a:rPr lang="en-US" sz="1800" dirty="0">
                          <a:latin typeface="Times New Roman" panose="02020603050405020304" pitchFamily="18" charset="0"/>
                          <a:cs typeface="Times New Roman" panose="02020603050405020304" pitchFamily="18" charset="0"/>
                        </a:rPr>
                        <a:t>PM2.5_lag1</a:t>
                      </a:r>
                      <a:endParaRPr lang="en-IN" sz="18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latin typeface="Times New Roman" panose="02020603050405020304" pitchFamily="18" charset="0"/>
                          <a:cs typeface="Times New Roman" panose="02020603050405020304" pitchFamily="18" charset="0"/>
                        </a:rPr>
                        <a:t>Numeric</a:t>
                      </a:r>
                      <a:endParaRPr lang="en-IN" sz="1800" dirty="0">
                        <a:latin typeface="Times New Roman" panose="02020603050405020304" pitchFamily="18" charset="0"/>
                        <a:cs typeface="Times New Roman" panose="02020603050405020304" pitchFamily="18" charset="0"/>
                      </a:endParaRPr>
                    </a:p>
                  </a:txBody>
                  <a:tcPr/>
                </a:tc>
                <a:tc>
                  <a:txBody>
                    <a:bodyPr/>
                    <a:lstStyle/>
                    <a:p>
                      <a:r>
                        <a:rPr lang="en-US" sz="1800" dirty="0">
                          <a:latin typeface="Times New Roman" panose="02020603050405020304" pitchFamily="18" charset="0"/>
                          <a:cs typeface="Times New Roman" panose="02020603050405020304" pitchFamily="18" charset="0"/>
                        </a:rPr>
                        <a:t>PM2.5 value 1 day before</a:t>
                      </a:r>
                      <a:endParaRPr lang="en-IN" sz="1800" dirty="0">
                        <a:latin typeface="Times New Roman" panose="02020603050405020304" pitchFamily="18" charset="0"/>
                        <a:cs typeface="Times New Roman" panose="02020603050405020304" pitchFamily="18" charset="0"/>
                      </a:endParaRPr>
                    </a:p>
                  </a:txBody>
                  <a:tcPr/>
                </a:tc>
                <a:tc>
                  <a:txBody>
                    <a:bodyPr/>
                    <a:lstStyle/>
                    <a:p>
                      <a:r>
                        <a:rPr lang="en-IN" dirty="0">
                          <a:latin typeface="Times New Roman" panose="02020603050405020304" pitchFamily="18" charset="0"/>
                          <a:cs typeface="Times New Roman" panose="02020603050405020304" pitchFamily="18" charset="0"/>
                        </a:rPr>
                        <a:t>µg/m³</a:t>
                      </a:r>
                      <a:endParaRPr lang="en-IN"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443329421"/>
                  </a:ext>
                </a:extLst>
              </a:tr>
              <a:tr h="366288">
                <a:tc>
                  <a:txBody>
                    <a:bodyPr/>
                    <a:lstStyle/>
                    <a:p>
                      <a:r>
                        <a:rPr lang="en-US" sz="1800" dirty="0">
                          <a:latin typeface="Times New Roman" panose="02020603050405020304" pitchFamily="18" charset="0"/>
                          <a:cs typeface="Times New Roman" panose="02020603050405020304" pitchFamily="18" charset="0"/>
                        </a:rPr>
                        <a:t>8)</a:t>
                      </a:r>
                      <a:endParaRPr lang="en-IN" sz="18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latin typeface="Times New Roman" panose="02020603050405020304" pitchFamily="18" charset="0"/>
                          <a:cs typeface="Times New Roman" panose="02020603050405020304" pitchFamily="18" charset="0"/>
                        </a:rPr>
                        <a:t>PM2.5_lag2</a:t>
                      </a:r>
                      <a:endParaRPr lang="en-IN" sz="18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latin typeface="Times New Roman" panose="02020603050405020304" pitchFamily="18" charset="0"/>
                          <a:cs typeface="Times New Roman" panose="02020603050405020304" pitchFamily="18" charset="0"/>
                        </a:rPr>
                        <a:t>Numeric</a:t>
                      </a:r>
                      <a:endParaRPr lang="en-IN" sz="18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latin typeface="Times New Roman" panose="02020603050405020304" pitchFamily="18" charset="0"/>
                          <a:cs typeface="Times New Roman" panose="02020603050405020304" pitchFamily="18" charset="0"/>
                        </a:rPr>
                        <a:t>PM2.5 value 2 days before</a:t>
                      </a:r>
                      <a:endParaRPr lang="en-IN" sz="18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latin typeface="Times New Roman" panose="02020603050405020304" pitchFamily="18" charset="0"/>
                          <a:cs typeface="Times New Roman" panose="02020603050405020304" pitchFamily="18" charset="0"/>
                        </a:rPr>
                        <a:t>µg/m³</a:t>
                      </a:r>
                      <a:endParaRPr lang="en-IN"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498256306"/>
                  </a:ext>
                </a:extLst>
              </a:tr>
              <a:tr h="366288">
                <a:tc>
                  <a:txBody>
                    <a:bodyPr/>
                    <a:lstStyle/>
                    <a:p>
                      <a:r>
                        <a:rPr lang="en-US" sz="1800" dirty="0">
                          <a:latin typeface="Times New Roman" panose="02020603050405020304" pitchFamily="18" charset="0"/>
                          <a:cs typeface="Times New Roman" panose="02020603050405020304" pitchFamily="18" charset="0"/>
                        </a:rPr>
                        <a:t>9)</a:t>
                      </a:r>
                      <a:endParaRPr lang="en-IN" sz="18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latin typeface="Times New Roman" panose="02020603050405020304" pitchFamily="18" charset="0"/>
                          <a:cs typeface="Times New Roman" panose="02020603050405020304" pitchFamily="18" charset="0"/>
                        </a:rPr>
                        <a:t>PM2.5_lag3</a:t>
                      </a:r>
                      <a:endParaRPr lang="en-IN" sz="18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latin typeface="Times New Roman" panose="02020603050405020304" pitchFamily="18" charset="0"/>
                          <a:cs typeface="Times New Roman" panose="02020603050405020304" pitchFamily="18" charset="0"/>
                        </a:rPr>
                        <a:t>Numeric</a:t>
                      </a:r>
                      <a:endParaRPr lang="en-IN" sz="18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latin typeface="Times New Roman" panose="02020603050405020304" pitchFamily="18" charset="0"/>
                          <a:cs typeface="Times New Roman" panose="02020603050405020304" pitchFamily="18" charset="0"/>
                        </a:rPr>
                        <a:t>PM2.5 value 3 days before</a:t>
                      </a:r>
                      <a:endParaRPr lang="en-IN" sz="18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latin typeface="Times New Roman" panose="02020603050405020304" pitchFamily="18" charset="0"/>
                          <a:cs typeface="Times New Roman" panose="02020603050405020304" pitchFamily="18" charset="0"/>
                        </a:rPr>
                        <a:t>µg/m³</a:t>
                      </a:r>
                      <a:endParaRPr lang="en-IN"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095675553"/>
                  </a:ext>
                </a:extLst>
              </a:tr>
              <a:tr h="366288">
                <a:tc>
                  <a:txBody>
                    <a:bodyPr/>
                    <a:lstStyle/>
                    <a:p>
                      <a:r>
                        <a:rPr lang="en-US" sz="1800" dirty="0">
                          <a:latin typeface="Times New Roman" panose="02020603050405020304" pitchFamily="18" charset="0"/>
                          <a:cs typeface="Times New Roman" panose="02020603050405020304" pitchFamily="18" charset="0"/>
                        </a:rPr>
                        <a:t>10)</a:t>
                      </a:r>
                      <a:endParaRPr lang="en-IN" sz="18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latin typeface="Times New Roman" panose="02020603050405020304" pitchFamily="18" charset="0"/>
                          <a:cs typeface="Times New Roman" panose="02020603050405020304" pitchFamily="18" charset="0"/>
                        </a:rPr>
                        <a:t>PM2.5_roll3</a:t>
                      </a:r>
                      <a:endParaRPr lang="en-IN" sz="18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latin typeface="Times New Roman" panose="02020603050405020304" pitchFamily="18" charset="0"/>
                          <a:cs typeface="Times New Roman" panose="02020603050405020304" pitchFamily="18" charset="0"/>
                        </a:rPr>
                        <a:t>Numeric</a:t>
                      </a:r>
                      <a:endParaRPr lang="en-IN" sz="1800" dirty="0">
                        <a:latin typeface="Times New Roman" panose="02020603050405020304" pitchFamily="18" charset="0"/>
                        <a:cs typeface="Times New Roman" panose="02020603050405020304" pitchFamily="18" charset="0"/>
                      </a:endParaRPr>
                    </a:p>
                  </a:txBody>
                  <a:tcPr/>
                </a:tc>
                <a:tc>
                  <a:txBody>
                    <a:bodyPr/>
                    <a:lstStyle/>
                    <a:p>
                      <a:r>
                        <a:rPr lang="en-US" sz="1800" dirty="0">
                          <a:latin typeface="Times New Roman" panose="02020603050405020304" pitchFamily="18" charset="0"/>
                          <a:cs typeface="Times New Roman" panose="02020603050405020304" pitchFamily="18" charset="0"/>
                        </a:rPr>
                        <a:t>3 day rolling mean</a:t>
                      </a:r>
                      <a:endParaRPr lang="en-IN" sz="18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latin typeface="Times New Roman" panose="02020603050405020304" pitchFamily="18" charset="0"/>
                          <a:cs typeface="Times New Roman" panose="02020603050405020304" pitchFamily="18" charset="0"/>
                        </a:rPr>
                        <a:t>µg/m³</a:t>
                      </a:r>
                      <a:endParaRPr lang="en-IN"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077942070"/>
                  </a:ext>
                </a:extLst>
              </a:tr>
              <a:tr h="366288">
                <a:tc>
                  <a:txBody>
                    <a:bodyPr/>
                    <a:lstStyle/>
                    <a:p>
                      <a:r>
                        <a:rPr lang="en-US" sz="1800" dirty="0">
                          <a:latin typeface="Times New Roman" panose="02020603050405020304" pitchFamily="18" charset="0"/>
                          <a:cs typeface="Times New Roman" panose="02020603050405020304" pitchFamily="18" charset="0"/>
                        </a:rPr>
                        <a:t>11)</a:t>
                      </a:r>
                      <a:endParaRPr lang="en-IN" sz="1800" dirty="0">
                        <a:latin typeface="Times New Roman" panose="02020603050405020304" pitchFamily="18" charset="0"/>
                        <a:cs typeface="Times New Roman" panose="02020603050405020304" pitchFamily="18" charset="0"/>
                      </a:endParaRPr>
                    </a:p>
                  </a:txBody>
                  <a:tcPr/>
                </a:tc>
                <a:tc>
                  <a:txBody>
                    <a:bodyPr/>
                    <a:lstStyle/>
                    <a:p>
                      <a:r>
                        <a:rPr lang="en-US" sz="1800" dirty="0" err="1">
                          <a:latin typeface="Times New Roman" panose="02020603050405020304" pitchFamily="18" charset="0"/>
                          <a:cs typeface="Times New Roman" panose="02020603050405020304" pitchFamily="18" charset="0"/>
                        </a:rPr>
                        <a:t>Temp_rh</a:t>
                      </a:r>
                      <a:endParaRPr lang="en-IN" sz="18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latin typeface="Times New Roman" panose="02020603050405020304" pitchFamily="18" charset="0"/>
                          <a:cs typeface="Times New Roman" panose="02020603050405020304" pitchFamily="18" charset="0"/>
                        </a:rPr>
                        <a:t>Numeric</a:t>
                      </a:r>
                      <a:endParaRPr lang="en-IN" sz="1800" dirty="0">
                        <a:latin typeface="Times New Roman" panose="02020603050405020304" pitchFamily="18" charset="0"/>
                        <a:cs typeface="Times New Roman" panose="02020603050405020304" pitchFamily="18" charset="0"/>
                      </a:endParaRPr>
                    </a:p>
                  </a:txBody>
                  <a:tcPr/>
                </a:tc>
                <a:tc>
                  <a:txBody>
                    <a:bodyPr/>
                    <a:lstStyle/>
                    <a:p>
                      <a:r>
                        <a:rPr lang="en-US" sz="1800" dirty="0">
                          <a:latin typeface="Times New Roman" panose="02020603050405020304" pitchFamily="18" charset="0"/>
                          <a:cs typeface="Times New Roman" panose="02020603050405020304" pitchFamily="18" charset="0"/>
                        </a:rPr>
                        <a:t>Product of temperature and relative humidity</a:t>
                      </a:r>
                      <a:endParaRPr lang="en-IN" sz="1800" dirty="0">
                        <a:latin typeface="Times New Roman" panose="02020603050405020304" pitchFamily="18" charset="0"/>
                        <a:cs typeface="Times New Roman" panose="02020603050405020304" pitchFamily="18" charset="0"/>
                      </a:endParaRPr>
                    </a:p>
                  </a:txBody>
                  <a:tcPr/>
                </a:tc>
                <a:tc>
                  <a:txBody>
                    <a:bodyPr/>
                    <a:lstStyle/>
                    <a:p>
                      <a:r>
                        <a:rPr lang="en-US" sz="1800" dirty="0">
                          <a:latin typeface="Times New Roman" panose="02020603050405020304" pitchFamily="18" charset="0"/>
                          <a:cs typeface="Times New Roman" panose="02020603050405020304" pitchFamily="18" charset="0"/>
                        </a:rPr>
                        <a:t>C * %</a:t>
                      </a:r>
                      <a:endParaRPr lang="en-IN"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27877339"/>
                  </a:ext>
                </a:extLst>
              </a:tr>
              <a:tr h="366288">
                <a:tc>
                  <a:txBody>
                    <a:bodyPr/>
                    <a:lstStyle/>
                    <a:p>
                      <a:r>
                        <a:rPr lang="en-US" sz="1800" dirty="0">
                          <a:latin typeface="Times New Roman" panose="02020603050405020304" pitchFamily="18" charset="0"/>
                          <a:cs typeface="Times New Roman" panose="02020603050405020304" pitchFamily="18" charset="0"/>
                        </a:rPr>
                        <a:t>12)</a:t>
                      </a:r>
                      <a:endParaRPr lang="en-IN" sz="1800" dirty="0">
                        <a:latin typeface="Times New Roman" panose="02020603050405020304" pitchFamily="18" charset="0"/>
                        <a:cs typeface="Times New Roman" panose="02020603050405020304" pitchFamily="18" charset="0"/>
                      </a:endParaRPr>
                    </a:p>
                  </a:txBody>
                  <a:tcPr/>
                </a:tc>
                <a:tc>
                  <a:txBody>
                    <a:bodyPr/>
                    <a:lstStyle/>
                    <a:p>
                      <a:r>
                        <a:rPr lang="en-US" sz="1800" dirty="0" err="1">
                          <a:latin typeface="Times New Roman" panose="02020603050405020304" pitchFamily="18" charset="0"/>
                          <a:cs typeface="Times New Roman" panose="02020603050405020304" pitchFamily="18" charset="0"/>
                        </a:rPr>
                        <a:t>Wind_precip</a:t>
                      </a:r>
                      <a:endParaRPr lang="en-IN" sz="18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latin typeface="Times New Roman" panose="02020603050405020304" pitchFamily="18" charset="0"/>
                          <a:cs typeface="Times New Roman" panose="02020603050405020304" pitchFamily="18" charset="0"/>
                        </a:rPr>
                        <a:t>Numeric</a:t>
                      </a:r>
                      <a:endParaRPr lang="en-IN" sz="18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latin typeface="Times New Roman" panose="02020603050405020304" pitchFamily="18" charset="0"/>
                          <a:cs typeface="Times New Roman" panose="02020603050405020304" pitchFamily="18" charset="0"/>
                        </a:rPr>
                        <a:t>Product of windspeed and precipitation</a:t>
                      </a:r>
                      <a:endParaRPr lang="en-IN" sz="1800" dirty="0">
                        <a:latin typeface="Times New Roman" panose="02020603050405020304" pitchFamily="18" charset="0"/>
                        <a:cs typeface="Times New Roman" panose="02020603050405020304" pitchFamily="18" charset="0"/>
                      </a:endParaRPr>
                    </a:p>
                  </a:txBody>
                  <a:tcPr/>
                </a:tc>
                <a:tc>
                  <a:txBody>
                    <a:bodyPr/>
                    <a:lstStyle/>
                    <a:p>
                      <a:r>
                        <a:rPr lang="en-US" sz="1800" dirty="0">
                          <a:latin typeface="Times New Roman" panose="02020603050405020304" pitchFamily="18" charset="0"/>
                          <a:cs typeface="Times New Roman" panose="02020603050405020304" pitchFamily="18" charset="0"/>
                        </a:rPr>
                        <a:t>m/s * mm</a:t>
                      </a:r>
                      <a:endParaRPr lang="en-IN"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050305955"/>
                  </a:ext>
                </a:extLst>
              </a:tr>
              <a:tr h="366288">
                <a:tc>
                  <a:txBody>
                    <a:bodyPr/>
                    <a:lstStyle/>
                    <a:p>
                      <a:r>
                        <a:rPr lang="en-US" sz="1800" dirty="0">
                          <a:latin typeface="Times New Roman" panose="02020603050405020304" pitchFamily="18" charset="0"/>
                          <a:cs typeface="Times New Roman" panose="02020603050405020304" pitchFamily="18" charset="0"/>
                        </a:rPr>
                        <a:t>13)</a:t>
                      </a:r>
                      <a:endParaRPr lang="en-IN" sz="1800" dirty="0">
                        <a:latin typeface="Times New Roman" panose="02020603050405020304" pitchFamily="18" charset="0"/>
                        <a:cs typeface="Times New Roman" panose="02020603050405020304" pitchFamily="18" charset="0"/>
                      </a:endParaRPr>
                    </a:p>
                  </a:txBody>
                  <a:tcPr/>
                </a:tc>
                <a:tc>
                  <a:txBody>
                    <a:bodyPr/>
                    <a:lstStyle/>
                    <a:p>
                      <a:r>
                        <a:rPr lang="en-US" sz="1800" dirty="0" err="1">
                          <a:latin typeface="Times New Roman" panose="02020603050405020304" pitchFamily="18" charset="0"/>
                          <a:cs typeface="Times New Roman" panose="02020603050405020304" pitchFamily="18" charset="0"/>
                        </a:rPr>
                        <a:t>Temp_vis</a:t>
                      </a:r>
                      <a:endParaRPr lang="en-IN" sz="18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latin typeface="Times New Roman" panose="02020603050405020304" pitchFamily="18" charset="0"/>
                          <a:cs typeface="Times New Roman" panose="02020603050405020304" pitchFamily="18" charset="0"/>
                        </a:rPr>
                        <a:t>Numeric</a:t>
                      </a:r>
                      <a:endParaRPr lang="en-IN" sz="18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latin typeface="Times New Roman" panose="02020603050405020304" pitchFamily="18" charset="0"/>
                          <a:cs typeface="Times New Roman" panose="02020603050405020304" pitchFamily="18" charset="0"/>
                        </a:rPr>
                        <a:t>Product of temperature and visibility</a:t>
                      </a:r>
                      <a:endParaRPr lang="en-IN" sz="1800" dirty="0">
                        <a:latin typeface="Times New Roman" panose="02020603050405020304" pitchFamily="18" charset="0"/>
                        <a:cs typeface="Times New Roman" panose="02020603050405020304" pitchFamily="18" charset="0"/>
                      </a:endParaRPr>
                    </a:p>
                  </a:txBody>
                  <a:tcPr/>
                </a:tc>
                <a:tc>
                  <a:txBody>
                    <a:bodyPr/>
                    <a:lstStyle/>
                    <a:p>
                      <a:r>
                        <a:rPr lang="en-US" sz="1800" dirty="0">
                          <a:latin typeface="Times New Roman" panose="02020603050405020304" pitchFamily="18" charset="0"/>
                          <a:cs typeface="Times New Roman" panose="02020603050405020304" pitchFamily="18" charset="0"/>
                        </a:rPr>
                        <a:t>C * km</a:t>
                      </a:r>
                      <a:endParaRPr lang="en-IN"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883315404"/>
                  </a:ext>
                </a:extLst>
              </a:tr>
              <a:tr h="355253">
                <a:tc>
                  <a:txBody>
                    <a:bodyPr/>
                    <a:lstStyle/>
                    <a:p>
                      <a:r>
                        <a:rPr lang="en-US" sz="1800" dirty="0">
                          <a:latin typeface="Times New Roman" panose="02020603050405020304" pitchFamily="18" charset="0"/>
                          <a:cs typeface="Times New Roman" panose="02020603050405020304" pitchFamily="18" charset="0"/>
                        </a:rPr>
                        <a:t>14)</a:t>
                      </a:r>
                      <a:endParaRPr lang="en-IN" sz="1800" dirty="0">
                        <a:latin typeface="Times New Roman" panose="02020603050405020304" pitchFamily="18" charset="0"/>
                        <a:cs typeface="Times New Roman" panose="02020603050405020304" pitchFamily="18" charset="0"/>
                      </a:endParaRPr>
                    </a:p>
                  </a:txBody>
                  <a:tcPr/>
                </a:tc>
                <a:tc>
                  <a:txBody>
                    <a:bodyPr/>
                    <a:lstStyle/>
                    <a:p>
                      <a:r>
                        <a:rPr lang="en-US" sz="1800" dirty="0" err="1">
                          <a:latin typeface="Times New Roman" panose="02020603050405020304" pitchFamily="18" charset="0"/>
                          <a:cs typeface="Times New Roman" panose="02020603050405020304" pitchFamily="18" charset="0"/>
                        </a:rPr>
                        <a:t>Day_of_week</a:t>
                      </a:r>
                      <a:endParaRPr lang="en-IN" sz="18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latin typeface="Times New Roman" panose="02020603050405020304" pitchFamily="18" charset="0"/>
                          <a:cs typeface="Times New Roman" panose="02020603050405020304" pitchFamily="18" charset="0"/>
                        </a:rPr>
                        <a:t>Categorical</a:t>
                      </a:r>
                      <a:endParaRPr lang="en-IN" sz="1800" dirty="0">
                        <a:latin typeface="Times New Roman" panose="02020603050405020304" pitchFamily="18" charset="0"/>
                        <a:cs typeface="Times New Roman" panose="02020603050405020304" pitchFamily="18" charset="0"/>
                      </a:endParaRPr>
                    </a:p>
                  </a:txBody>
                  <a:tcPr/>
                </a:tc>
                <a:tc>
                  <a:txBody>
                    <a:bodyPr/>
                    <a:lstStyle/>
                    <a:p>
                      <a:r>
                        <a:rPr lang="en-US" sz="1800" dirty="0">
                          <a:latin typeface="Times New Roman" panose="02020603050405020304" pitchFamily="18" charset="0"/>
                          <a:cs typeface="Times New Roman" panose="02020603050405020304" pitchFamily="18" charset="0"/>
                        </a:rPr>
                        <a:t>Day of the week when measurement taken</a:t>
                      </a:r>
                      <a:endParaRPr lang="en-IN" sz="1800" dirty="0">
                        <a:latin typeface="Times New Roman" panose="02020603050405020304" pitchFamily="18" charset="0"/>
                        <a:cs typeface="Times New Roman" panose="02020603050405020304" pitchFamily="18" charset="0"/>
                      </a:endParaRPr>
                    </a:p>
                  </a:txBody>
                  <a:tcPr/>
                </a:tc>
                <a:tc>
                  <a:txBody>
                    <a:bodyPr/>
                    <a:lstStyle/>
                    <a:p>
                      <a:r>
                        <a:rPr lang="en-US" sz="1800" dirty="0">
                          <a:latin typeface="Times New Roman" panose="02020603050405020304" pitchFamily="18" charset="0"/>
                          <a:cs typeface="Times New Roman" panose="02020603050405020304" pitchFamily="18" charset="0"/>
                        </a:rPr>
                        <a:t>(0-6)</a:t>
                      </a:r>
                      <a:endParaRPr lang="en-IN"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822148866"/>
                  </a:ext>
                </a:extLst>
              </a:tr>
              <a:tr h="366288">
                <a:tc>
                  <a:txBody>
                    <a:bodyPr/>
                    <a:lstStyle/>
                    <a:p>
                      <a:r>
                        <a:rPr lang="en-US" sz="1800" dirty="0">
                          <a:latin typeface="Times New Roman" panose="02020603050405020304" pitchFamily="18" charset="0"/>
                          <a:cs typeface="Times New Roman" panose="02020603050405020304" pitchFamily="18" charset="0"/>
                        </a:rPr>
                        <a:t>15)</a:t>
                      </a:r>
                      <a:endParaRPr lang="en-IN" sz="1800" dirty="0">
                        <a:latin typeface="Times New Roman" panose="02020603050405020304" pitchFamily="18" charset="0"/>
                        <a:cs typeface="Times New Roman" panose="02020603050405020304" pitchFamily="18" charset="0"/>
                      </a:endParaRPr>
                    </a:p>
                  </a:txBody>
                  <a:tcPr/>
                </a:tc>
                <a:tc>
                  <a:txBody>
                    <a:bodyPr/>
                    <a:lstStyle/>
                    <a:p>
                      <a:r>
                        <a:rPr lang="en-US" sz="1800" dirty="0">
                          <a:latin typeface="Times New Roman" panose="02020603050405020304" pitchFamily="18" charset="0"/>
                          <a:cs typeface="Times New Roman" panose="02020603050405020304" pitchFamily="18" charset="0"/>
                        </a:rPr>
                        <a:t>month</a:t>
                      </a:r>
                      <a:endParaRPr lang="en-IN" sz="18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latin typeface="Times New Roman" panose="02020603050405020304" pitchFamily="18" charset="0"/>
                          <a:cs typeface="Times New Roman" panose="02020603050405020304" pitchFamily="18" charset="0"/>
                        </a:rPr>
                        <a:t>Categorical</a:t>
                      </a:r>
                      <a:endParaRPr lang="en-IN" sz="1800" dirty="0">
                        <a:latin typeface="Times New Roman" panose="02020603050405020304" pitchFamily="18" charset="0"/>
                        <a:cs typeface="Times New Roman" panose="02020603050405020304" pitchFamily="18" charset="0"/>
                      </a:endParaRPr>
                    </a:p>
                  </a:txBody>
                  <a:tcPr/>
                </a:tc>
                <a:tc>
                  <a:txBody>
                    <a:bodyPr/>
                    <a:lstStyle/>
                    <a:p>
                      <a:r>
                        <a:rPr lang="en-US" sz="1800" dirty="0">
                          <a:latin typeface="Times New Roman" panose="02020603050405020304" pitchFamily="18" charset="0"/>
                          <a:cs typeface="Times New Roman" panose="02020603050405020304" pitchFamily="18" charset="0"/>
                        </a:rPr>
                        <a:t>Month number when measurement taken</a:t>
                      </a:r>
                      <a:endParaRPr lang="en-IN" sz="1800" dirty="0">
                        <a:latin typeface="Times New Roman" panose="02020603050405020304" pitchFamily="18" charset="0"/>
                        <a:cs typeface="Times New Roman" panose="02020603050405020304" pitchFamily="18" charset="0"/>
                      </a:endParaRPr>
                    </a:p>
                  </a:txBody>
                  <a:tcPr/>
                </a:tc>
                <a:tc>
                  <a:txBody>
                    <a:bodyPr/>
                    <a:lstStyle/>
                    <a:p>
                      <a:r>
                        <a:rPr lang="en-US" sz="1800" dirty="0">
                          <a:latin typeface="Times New Roman" panose="02020603050405020304" pitchFamily="18" charset="0"/>
                          <a:cs typeface="Times New Roman" panose="02020603050405020304" pitchFamily="18" charset="0"/>
                        </a:rPr>
                        <a:t>(1-12)</a:t>
                      </a:r>
                      <a:endParaRPr lang="en-IN"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765268338"/>
                  </a:ext>
                </a:extLst>
              </a:tr>
              <a:tr h="366288">
                <a:tc>
                  <a:txBody>
                    <a:bodyPr/>
                    <a:lstStyle/>
                    <a:p>
                      <a:r>
                        <a:rPr lang="en-US" sz="1800" dirty="0">
                          <a:latin typeface="Times New Roman" panose="02020603050405020304" pitchFamily="18" charset="0"/>
                          <a:cs typeface="Times New Roman" panose="02020603050405020304" pitchFamily="18" charset="0"/>
                        </a:rPr>
                        <a:t>16)</a:t>
                      </a:r>
                      <a:endParaRPr lang="en-IN" sz="1800" dirty="0">
                        <a:latin typeface="Times New Roman" panose="02020603050405020304" pitchFamily="18" charset="0"/>
                        <a:cs typeface="Times New Roman" panose="02020603050405020304" pitchFamily="18" charset="0"/>
                      </a:endParaRPr>
                    </a:p>
                  </a:txBody>
                  <a:tcPr/>
                </a:tc>
                <a:tc>
                  <a:txBody>
                    <a:bodyPr/>
                    <a:lstStyle/>
                    <a:p>
                      <a:r>
                        <a:rPr lang="en-US" sz="1800" dirty="0">
                          <a:latin typeface="Times New Roman" panose="02020603050405020304" pitchFamily="18" charset="0"/>
                          <a:cs typeface="Times New Roman" panose="02020603050405020304" pitchFamily="18" charset="0"/>
                        </a:rPr>
                        <a:t>PM2.5_AQI</a:t>
                      </a:r>
                      <a:endParaRPr lang="en-IN" sz="1800" dirty="0">
                        <a:latin typeface="Times New Roman" panose="02020603050405020304" pitchFamily="18" charset="0"/>
                        <a:cs typeface="Times New Roman" panose="02020603050405020304" pitchFamily="18" charset="0"/>
                      </a:endParaRPr>
                    </a:p>
                  </a:txBody>
                  <a:tcPr/>
                </a:tc>
                <a:tc>
                  <a:txBody>
                    <a:bodyPr/>
                    <a:lstStyle/>
                    <a:p>
                      <a:r>
                        <a:rPr lang="en-US" sz="1800" dirty="0">
                          <a:latin typeface="Times New Roman" panose="02020603050405020304" pitchFamily="18" charset="0"/>
                          <a:cs typeface="Times New Roman" panose="02020603050405020304" pitchFamily="18" charset="0"/>
                        </a:rPr>
                        <a:t>Categorical</a:t>
                      </a:r>
                      <a:endParaRPr lang="en-IN" sz="1800" dirty="0">
                        <a:latin typeface="Times New Roman" panose="02020603050405020304" pitchFamily="18" charset="0"/>
                        <a:cs typeface="Times New Roman" panose="02020603050405020304" pitchFamily="18" charset="0"/>
                      </a:endParaRPr>
                    </a:p>
                  </a:txBody>
                  <a:tcPr/>
                </a:tc>
                <a:tc>
                  <a:txBody>
                    <a:bodyPr/>
                    <a:lstStyle/>
                    <a:p>
                      <a:r>
                        <a:rPr lang="en-US" sz="1800" dirty="0">
                          <a:latin typeface="Times New Roman" panose="02020603050405020304" pitchFamily="18" charset="0"/>
                          <a:cs typeface="Times New Roman" panose="02020603050405020304" pitchFamily="18" charset="0"/>
                        </a:rPr>
                        <a:t>Air Quality index category based on PM2.5 value.</a:t>
                      </a:r>
                      <a:endParaRPr lang="en-IN" sz="1800" dirty="0">
                        <a:latin typeface="Times New Roman" panose="02020603050405020304" pitchFamily="18" charset="0"/>
                        <a:cs typeface="Times New Roman" panose="02020603050405020304" pitchFamily="18" charset="0"/>
                      </a:endParaRPr>
                    </a:p>
                  </a:txBody>
                  <a:tcPr/>
                </a:tc>
                <a:tc>
                  <a:txBody>
                    <a:bodyPr/>
                    <a:lstStyle/>
                    <a:p>
                      <a:r>
                        <a:rPr lang="en-US" sz="1800" dirty="0">
                          <a:latin typeface="Times New Roman" panose="02020603050405020304" pitchFamily="18" charset="0"/>
                          <a:cs typeface="Times New Roman" panose="02020603050405020304" pitchFamily="18" charset="0"/>
                        </a:rPr>
                        <a:t>Classes(0,1,2,3)</a:t>
                      </a:r>
                      <a:endParaRPr lang="en-IN"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478360545"/>
                  </a:ext>
                </a:extLst>
              </a:tr>
            </a:tbl>
          </a:graphicData>
        </a:graphic>
      </p:graphicFrame>
      <p:sp>
        <p:nvSpPr>
          <p:cNvPr id="7" name="TextBox 6">
            <a:extLst>
              <a:ext uri="{FF2B5EF4-FFF2-40B4-BE49-F238E27FC236}">
                <a16:creationId xmlns:a16="http://schemas.microsoft.com/office/drawing/2014/main" id="{49AE21D5-7247-ACB8-5A83-B6CBA3D35704}"/>
              </a:ext>
            </a:extLst>
          </p:cNvPr>
          <p:cNvSpPr txBox="1"/>
          <p:nvPr/>
        </p:nvSpPr>
        <p:spPr>
          <a:xfrm>
            <a:off x="339047" y="6226368"/>
            <a:ext cx="11589250" cy="646331"/>
          </a:xfrm>
          <a:prstGeom prst="rect">
            <a:avLst/>
          </a:prstGeom>
          <a:solidFill>
            <a:srgbClr val="FFFF00"/>
          </a:solidFill>
        </p:spPr>
        <p:txBody>
          <a:bodyPr wrap="square" rtlCol="0">
            <a:spAutoFit/>
          </a:bodyPr>
          <a:lstStyle/>
          <a:p>
            <a:r>
              <a:rPr lang="en-US" b="1" dirty="0">
                <a:latin typeface="Times New Roman" panose="02020603050405020304" pitchFamily="18" charset="0"/>
                <a:cs typeface="Times New Roman" panose="02020603050405020304" pitchFamily="18" charset="0"/>
              </a:rPr>
              <a:t>Target Variable: </a:t>
            </a:r>
            <a:r>
              <a:rPr lang="en-US" dirty="0">
                <a:latin typeface="Times New Roman" panose="02020603050405020304" pitchFamily="18" charset="0"/>
                <a:cs typeface="Times New Roman" panose="02020603050405020304" pitchFamily="18" charset="0"/>
              </a:rPr>
              <a:t>PM2.5_AQI Category(0=Good, 1= Moderate, 2=Unhealthy for sensitive groups, 3= Unhealthy,  4= Very Unhealthy/Hazardous</a:t>
            </a:r>
          </a:p>
        </p:txBody>
      </p:sp>
    </p:spTree>
    <p:extLst>
      <p:ext uri="{BB962C8B-B14F-4D97-AF65-F5344CB8AC3E}">
        <p14:creationId xmlns:p14="http://schemas.microsoft.com/office/powerpoint/2010/main" val="1518848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4" name="Rectangle 43">
            <a:extLst>
              <a:ext uri="{FF2B5EF4-FFF2-40B4-BE49-F238E27FC236}">
                <a16:creationId xmlns:a16="http://schemas.microsoft.com/office/drawing/2014/main" id="{9F4444CE-BC8D-4D61-B303-4C05614E62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E6F0F35-549B-80F7-3BAB-C2A993FAF20F}"/>
              </a:ext>
            </a:extLst>
          </p:cNvPr>
          <p:cNvSpPr>
            <a:spLocks noGrp="1"/>
          </p:cNvSpPr>
          <p:nvPr>
            <p:ph type="title"/>
          </p:nvPr>
        </p:nvSpPr>
        <p:spPr>
          <a:xfrm>
            <a:off x="1286933" y="609600"/>
            <a:ext cx="10197494" cy="1099457"/>
          </a:xfrm>
        </p:spPr>
        <p:txBody>
          <a:bodyPr>
            <a:normAutofit/>
          </a:bodyPr>
          <a:lstStyle/>
          <a:p>
            <a:r>
              <a:rPr lang="en-US">
                <a:latin typeface="Times New Roman" panose="02020603050405020304" pitchFamily="18" charset="0"/>
                <a:cs typeface="Times New Roman" panose="02020603050405020304" pitchFamily="18" charset="0"/>
              </a:rPr>
              <a:t>Data Preparation</a:t>
            </a:r>
            <a:endParaRPr lang="en-IN" dirty="0">
              <a:latin typeface="Times New Roman" panose="02020603050405020304" pitchFamily="18" charset="0"/>
              <a:cs typeface="Times New Roman" panose="02020603050405020304" pitchFamily="18" charset="0"/>
            </a:endParaRPr>
          </a:p>
        </p:txBody>
      </p:sp>
      <p:sp>
        <p:nvSpPr>
          <p:cNvPr id="11" name="Isosceles Triangle 10">
            <a:extLst>
              <a:ext uri="{FF2B5EF4-FFF2-40B4-BE49-F238E27FC236}">
                <a16:creationId xmlns:a16="http://schemas.microsoft.com/office/drawing/2014/main" id="{73772B81-181F-48B7-8826-4D9686D15D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3" name="Isosceles Triangle 12">
            <a:extLst>
              <a:ext uri="{FF2B5EF4-FFF2-40B4-BE49-F238E27FC236}">
                <a16:creationId xmlns:a16="http://schemas.microsoft.com/office/drawing/2014/main" id="{B2205F6E-03C6-4E92-877C-E2482F6599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1743267"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aphicFrame>
        <p:nvGraphicFramePr>
          <p:cNvPr id="45" name="Content Placeholder 2">
            <a:extLst>
              <a:ext uri="{FF2B5EF4-FFF2-40B4-BE49-F238E27FC236}">
                <a16:creationId xmlns:a16="http://schemas.microsoft.com/office/drawing/2014/main" id="{B994C348-C93C-9275-3124-C2DD9A67F4CC}"/>
              </a:ext>
            </a:extLst>
          </p:cNvPr>
          <p:cNvGraphicFramePr>
            <a:graphicFrameLocks noGrp="1"/>
          </p:cNvGraphicFramePr>
          <p:nvPr>
            <p:ph idx="1"/>
            <p:extLst>
              <p:ext uri="{D42A27DB-BD31-4B8C-83A1-F6EECF244321}">
                <p14:modId xmlns:p14="http://schemas.microsoft.com/office/powerpoint/2010/main" val="2545293796"/>
              </p:ext>
            </p:extLst>
          </p:nvPr>
        </p:nvGraphicFramePr>
        <p:xfrm>
          <a:off x="1286933" y="1284514"/>
          <a:ext cx="9618133" cy="520337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466017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EBE86EA4-C4F1-4465-B306-7A2BC228592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11" name="Straight Connector 10">
              <a:extLst>
                <a:ext uri="{FF2B5EF4-FFF2-40B4-BE49-F238E27FC236}">
                  <a16:creationId xmlns:a16="http://schemas.microsoft.com/office/drawing/2014/main" id="{A8279268-DB29-43BE-B57C-14977EACFDA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C8FA53C0-C1EF-4611-BAB3-65EEB16AA30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3" name="Rectangle 23">
              <a:extLst>
                <a:ext uri="{FF2B5EF4-FFF2-40B4-BE49-F238E27FC236}">
                  <a16:creationId xmlns:a16="http://schemas.microsoft.com/office/drawing/2014/main" id="{81CDACFC-DD8A-4CC0-B7FC-6030FC3536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4" name="Rectangle 25">
              <a:extLst>
                <a:ext uri="{FF2B5EF4-FFF2-40B4-BE49-F238E27FC236}">
                  <a16:creationId xmlns:a16="http://schemas.microsoft.com/office/drawing/2014/main" id="{0269F267-73D4-4CC3-BEC7-73335654DE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5" name="Isosceles Triangle 14">
              <a:extLst>
                <a:ext uri="{FF2B5EF4-FFF2-40B4-BE49-F238E27FC236}">
                  <a16:creationId xmlns:a16="http://schemas.microsoft.com/office/drawing/2014/main" id="{DC48F13D-B2D7-4EB8-9CA7-59243637C8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6" name="Rectangle 27">
              <a:extLst>
                <a:ext uri="{FF2B5EF4-FFF2-40B4-BE49-F238E27FC236}">
                  <a16:creationId xmlns:a16="http://schemas.microsoft.com/office/drawing/2014/main" id="{A82405B3-5A67-4DA2-8EDA-7AB65A8B45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7" name="Rectangle 28">
              <a:extLst>
                <a:ext uri="{FF2B5EF4-FFF2-40B4-BE49-F238E27FC236}">
                  <a16:creationId xmlns:a16="http://schemas.microsoft.com/office/drawing/2014/main" id="{7508BC7B-3BD2-4D96-A46E-82988222AC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8" name="Rectangle 29">
              <a:extLst>
                <a:ext uri="{FF2B5EF4-FFF2-40B4-BE49-F238E27FC236}">
                  <a16:creationId xmlns:a16="http://schemas.microsoft.com/office/drawing/2014/main" id="{4298D07C-2287-4B93-9041-935144DE1B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9" name="Isosceles Triangle 18">
              <a:extLst>
                <a:ext uri="{FF2B5EF4-FFF2-40B4-BE49-F238E27FC236}">
                  <a16:creationId xmlns:a16="http://schemas.microsoft.com/office/drawing/2014/main" id="{0F6BC886-C125-4903-8C2A-6FB687400D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0" name="Isosceles Triangle 19">
              <a:extLst>
                <a:ext uri="{FF2B5EF4-FFF2-40B4-BE49-F238E27FC236}">
                  <a16:creationId xmlns:a16="http://schemas.microsoft.com/office/drawing/2014/main" id="{C9D0B38F-2E02-4E85-99EE-73595E7C89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2" name="Rectangle 21">
            <a:extLst>
              <a:ext uri="{FF2B5EF4-FFF2-40B4-BE49-F238E27FC236}">
                <a16:creationId xmlns:a16="http://schemas.microsoft.com/office/drawing/2014/main" id="{BD11ECC6-8551-4768-8DFD-CD41AF420A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572001"/>
            <a:ext cx="12192000" cy="2285999"/>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24" name="Group 23">
            <a:extLst>
              <a:ext uri="{FF2B5EF4-FFF2-40B4-BE49-F238E27FC236}">
                <a16:creationId xmlns:a16="http://schemas.microsoft.com/office/drawing/2014/main" id="{93657592-CA60-4F45-B1A0-88AA7724208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425267" y="-8467"/>
            <a:ext cx="4766733" cy="6866467"/>
            <a:chOff x="7425267" y="-8467"/>
            <a:chExt cx="4766733" cy="6866467"/>
          </a:xfrm>
        </p:grpSpPr>
        <p:cxnSp>
          <p:nvCxnSpPr>
            <p:cNvPr id="25" name="Straight Connector 24">
              <a:extLst>
                <a:ext uri="{FF2B5EF4-FFF2-40B4-BE49-F238E27FC236}">
                  <a16:creationId xmlns:a16="http://schemas.microsoft.com/office/drawing/2014/main" id="{6F47E2B4-7DA9-4312-A1F0-C48388B236A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96547" y="4572001"/>
              <a:ext cx="393665" cy="2285999"/>
            </a:xfrm>
            <a:prstGeom prst="line">
              <a:avLst/>
            </a:prstGeom>
            <a:ln w="9525">
              <a:solidFill>
                <a:srgbClr val="BFBFBF">
                  <a:alpha val="70000"/>
                </a:srgbClr>
              </a:solidFill>
            </a:ln>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35B274F7-039F-4BFC-AA98-B51B1D6CB69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7425267" y="4572001"/>
              <a:ext cx="3383073" cy="2285999"/>
            </a:xfrm>
            <a:prstGeom prst="line">
              <a:avLst/>
            </a:prstGeom>
            <a:ln w="9525">
              <a:solidFill>
                <a:srgbClr val="BFBFBF">
                  <a:alpha val="69804"/>
                </a:srgbClr>
              </a:solidFill>
            </a:ln>
          </p:spPr>
          <p:style>
            <a:lnRef idx="2">
              <a:schemeClr val="accent1"/>
            </a:lnRef>
            <a:fillRef idx="0">
              <a:schemeClr val="accent1"/>
            </a:fillRef>
            <a:effectRef idx="1">
              <a:schemeClr val="accent1"/>
            </a:effectRef>
            <a:fontRef idx="minor">
              <a:schemeClr val="tx1"/>
            </a:fontRef>
          </p:style>
        </p:cxnSp>
        <p:sp>
          <p:nvSpPr>
            <p:cNvPr id="27" name="Rectangle 23">
              <a:extLst>
                <a:ext uri="{FF2B5EF4-FFF2-40B4-BE49-F238E27FC236}">
                  <a16:creationId xmlns:a16="http://schemas.microsoft.com/office/drawing/2014/main" id="{11A31103-C703-46C9-9D26-497A1ACD50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8" name="Rectangle 25">
              <a:extLst>
                <a:ext uri="{FF2B5EF4-FFF2-40B4-BE49-F238E27FC236}">
                  <a16:creationId xmlns:a16="http://schemas.microsoft.com/office/drawing/2014/main" id="{382F955F-FC22-44B8-BDCF-B77580323B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9" name="Isosceles Triangle 28">
              <a:extLst>
                <a:ext uri="{FF2B5EF4-FFF2-40B4-BE49-F238E27FC236}">
                  <a16:creationId xmlns:a16="http://schemas.microsoft.com/office/drawing/2014/main" id="{1F567692-F087-479A-8931-BD2869C3E4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0" name="Rectangle 27">
              <a:extLst>
                <a:ext uri="{FF2B5EF4-FFF2-40B4-BE49-F238E27FC236}">
                  <a16:creationId xmlns:a16="http://schemas.microsoft.com/office/drawing/2014/main" id="{49B3E4CD-0738-4B9D-A14F-1E8694DDF8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1" name="Rectangle 28">
              <a:extLst>
                <a:ext uri="{FF2B5EF4-FFF2-40B4-BE49-F238E27FC236}">
                  <a16:creationId xmlns:a16="http://schemas.microsoft.com/office/drawing/2014/main" id="{4753B851-AD90-4CCD-85D0-65AA6567DF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2" name="Rectangle 29">
              <a:extLst>
                <a:ext uri="{FF2B5EF4-FFF2-40B4-BE49-F238E27FC236}">
                  <a16:creationId xmlns:a16="http://schemas.microsoft.com/office/drawing/2014/main" id="{EBF14868-A190-4E21-9522-8977C474C9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3" name="Isosceles Triangle 32">
              <a:extLst>
                <a:ext uri="{FF2B5EF4-FFF2-40B4-BE49-F238E27FC236}">
                  <a16:creationId xmlns:a16="http://schemas.microsoft.com/office/drawing/2014/main" id="{BCBB4922-76EE-442B-A649-09873DCE79D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1">
            <a:extLst>
              <a:ext uri="{FF2B5EF4-FFF2-40B4-BE49-F238E27FC236}">
                <a16:creationId xmlns:a16="http://schemas.microsoft.com/office/drawing/2014/main" id="{A5F7844E-F9C0-63F3-D51A-04E7D3576A57}"/>
              </a:ext>
            </a:extLst>
          </p:cNvPr>
          <p:cNvSpPr>
            <a:spLocks noGrp="1"/>
          </p:cNvSpPr>
          <p:nvPr>
            <p:ph type="title"/>
          </p:nvPr>
        </p:nvSpPr>
        <p:spPr>
          <a:xfrm>
            <a:off x="765110" y="4758611"/>
            <a:ext cx="8508893" cy="1024415"/>
          </a:xfrm>
        </p:spPr>
        <p:txBody>
          <a:bodyPr vert="horz" lIns="91440" tIns="45720" rIns="91440" bIns="45720" rtlCol="0" anchor="b">
            <a:normAutofit/>
          </a:bodyPr>
          <a:lstStyle/>
          <a:p>
            <a:pPr algn="r"/>
            <a:r>
              <a:rPr lang="en-US" sz="5400"/>
              <a:t>Visualizations</a:t>
            </a:r>
          </a:p>
        </p:txBody>
      </p:sp>
      <p:sp>
        <p:nvSpPr>
          <p:cNvPr id="35" name="Rectangle 34">
            <a:extLst>
              <a:ext uri="{FF2B5EF4-FFF2-40B4-BE49-F238E27FC236}">
                <a16:creationId xmlns:a16="http://schemas.microsoft.com/office/drawing/2014/main" id="{8E2EB503-A017-4457-A105-53638C97DE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4572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EBA25FA7-5632-848F-6B5D-28175FE89C18}"/>
              </a:ext>
            </a:extLst>
          </p:cNvPr>
          <p:cNvPicPr>
            <a:picLocks noChangeAspect="1"/>
          </p:cNvPicPr>
          <p:nvPr/>
        </p:nvPicPr>
        <p:blipFill>
          <a:blip r:embed="rId2"/>
          <a:stretch>
            <a:fillRect/>
          </a:stretch>
        </p:blipFill>
        <p:spPr>
          <a:xfrm>
            <a:off x="643466" y="1269743"/>
            <a:ext cx="3426704" cy="2201657"/>
          </a:xfrm>
          <a:prstGeom prst="rect">
            <a:avLst/>
          </a:prstGeom>
        </p:spPr>
      </p:pic>
      <p:pic>
        <p:nvPicPr>
          <p:cNvPr id="5" name="Content Placeholder 4">
            <a:extLst>
              <a:ext uri="{FF2B5EF4-FFF2-40B4-BE49-F238E27FC236}">
                <a16:creationId xmlns:a16="http://schemas.microsoft.com/office/drawing/2014/main" id="{10C5A000-38BE-E6CB-39A7-1EE676BE57B5}"/>
              </a:ext>
            </a:extLst>
          </p:cNvPr>
          <p:cNvPicPr>
            <a:picLocks noGrp="1" noChangeAspect="1"/>
          </p:cNvPicPr>
          <p:nvPr>
            <p:ph idx="1"/>
          </p:nvPr>
        </p:nvPicPr>
        <p:blipFill>
          <a:blip r:embed="rId3"/>
          <a:stretch>
            <a:fillRect/>
          </a:stretch>
        </p:blipFill>
        <p:spPr>
          <a:xfrm>
            <a:off x="4376480" y="1295443"/>
            <a:ext cx="3426704" cy="2150256"/>
          </a:xfrm>
          <a:prstGeom prst="rect">
            <a:avLst/>
          </a:prstGeom>
        </p:spPr>
      </p:pic>
      <p:pic>
        <p:nvPicPr>
          <p:cNvPr id="3" name="Picture 2">
            <a:extLst>
              <a:ext uri="{FF2B5EF4-FFF2-40B4-BE49-F238E27FC236}">
                <a16:creationId xmlns:a16="http://schemas.microsoft.com/office/drawing/2014/main" id="{1C2DB5F3-EAB2-6C2E-657B-215F0C7C2B5E}"/>
              </a:ext>
            </a:extLst>
          </p:cNvPr>
          <p:cNvPicPr>
            <a:picLocks noChangeAspect="1"/>
          </p:cNvPicPr>
          <p:nvPr/>
        </p:nvPicPr>
        <p:blipFill>
          <a:blip r:embed="rId4"/>
          <a:stretch>
            <a:fillRect/>
          </a:stretch>
        </p:blipFill>
        <p:spPr>
          <a:xfrm>
            <a:off x="8117073" y="1376828"/>
            <a:ext cx="3426704" cy="1987487"/>
          </a:xfrm>
          <a:prstGeom prst="rect">
            <a:avLst/>
          </a:prstGeom>
        </p:spPr>
      </p:pic>
    </p:spTree>
    <p:extLst>
      <p:ext uri="{BB962C8B-B14F-4D97-AF65-F5344CB8AC3E}">
        <p14:creationId xmlns:p14="http://schemas.microsoft.com/office/powerpoint/2010/main" val="42943516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0B5F7E3B-C5F1-40E0-A491-558BAFBC112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241804" y="1460500"/>
            <a:ext cx="0" cy="3937000"/>
          </a:xfrm>
          <a:prstGeom prst="line">
            <a:avLst/>
          </a:prstGeom>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041DAA0-1AF0-9FDB-F7C1-CA91EEE2F68D}"/>
              </a:ext>
            </a:extLst>
          </p:cNvPr>
          <p:cNvSpPr>
            <a:spLocks noGrp="1"/>
          </p:cNvSpPr>
          <p:nvPr>
            <p:ph type="title"/>
          </p:nvPr>
        </p:nvSpPr>
        <p:spPr>
          <a:xfrm>
            <a:off x="643467" y="816638"/>
            <a:ext cx="3367359" cy="5224724"/>
          </a:xfrm>
        </p:spPr>
        <p:txBody>
          <a:bodyPr anchor="ctr">
            <a:normAutofit/>
          </a:bodyPr>
          <a:lstStyle/>
          <a:p>
            <a:r>
              <a:rPr lang="en-US" dirty="0">
                <a:latin typeface="Times New Roman" panose="02020603050405020304" pitchFamily="18" charset="0"/>
                <a:cs typeface="Times New Roman" panose="02020603050405020304" pitchFamily="18" charset="0"/>
              </a:rPr>
              <a:t>Algorithms</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FD7225E-BD48-6A3E-5FBC-7D0C2AC61738}"/>
              </a:ext>
            </a:extLst>
          </p:cNvPr>
          <p:cNvSpPr>
            <a:spLocks noGrp="1"/>
          </p:cNvSpPr>
          <p:nvPr>
            <p:ph idx="1"/>
          </p:nvPr>
        </p:nvSpPr>
        <p:spPr>
          <a:xfrm>
            <a:off x="4654295" y="816638"/>
            <a:ext cx="4619706" cy="5224724"/>
          </a:xfrm>
        </p:spPr>
        <p:txBody>
          <a:bodyPr anchor="ctr">
            <a:normAutofit/>
          </a:bodyPr>
          <a:lstStyle/>
          <a:p>
            <a:pPr marL="0" indent="0">
              <a:buNone/>
            </a:pPr>
            <a:r>
              <a:rPr lang="en-US" b="1" dirty="0">
                <a:latin typeface="Times New Roman" panose="02020603050405020304" pitchFamily="18" charset="0"/>
                <a:cs typeface="Times New Roman" panose="02020603050405020304" pitchFamily="18" charset="0"/>
              </a:rPr>
              <a:t>Logistic regression:</a:t>
            </a:r>
          </a:p>
          <a:p>
            <a:r>
              <a:rPr lang="en-IN"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Logistic Regression provided a strong performance (96.61% accuracy) with a simple, interpretable model that was fast to train and effective, making it an excellent lightweight alternative despite slight struggles with very rare classes.</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r>
              <a:rPr lang="en-US" b="1" dirty="0">
                <a:latin typeface="Times New Roman" panose="02020603050405020304" pitchFamily="18" charset="0"/>
                <a:cs typeface="Times New Roman" panose="02020603050405020304" pitchFamily="18" charset="0"/>
              </a:rPr>
              <a:t>Neural Network:</a:t>
            </a:r>
            <a:endParaRPr lang="en-US" dirty="0">
              <a:latin typeface="Times New Roman" panose="02020603050405020304" pitchFamily="18" charset="0"/>
              <a:cs typeface="Times New Roman" panose="02020603050405020304" pitchFamily="18" charset="0"/>
            </a:endParaRPr>
          </a:p>
          <a:p>
            <a:r>
              <a:rPr lang="en-US">
                <a:latin typeface="Times New Roman" panose="02020603050405020304" pitchFamily="18" charset="0"/>
                <a:cs typeface="Times New Roman" panose="02020603050405020304" pitchFamily="18" charset="0"/>
              </a:rPr>
              <a:t>The MLP Neural Network achieved the highest accuracy (97.8%), effectively capturing complex non-linear relationships and correctly predicting all AQI categories, including rare ones. </a:t>
            </a:r>
            <a:r>
              <a:rPr lang="en-US" dirty="0">
                <a:latin typeface="Times New Roman" panose="02020603050405020304" pitchFamily="18" charset="0"/>
                <a:cs typeface="Times New Roman" panose="02020603050405020304" pitchFamily="18" charset="0"/>
              </a:rPr>
              <a:t>Its deep learning architecture made it the most robust and reliable model for PM2.5 classification.</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785723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65AC7D1-EAA9-48F5-B509-60A7F50BF7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10" name="Rectangle 9">
            <a:extLst>
              <a:ext uri="{FF2B5EF4-FFF2-40B4-BE49-F238E27FC236}">
                <a16:creationId xmlns:a16="http://schemas.microsoft.com/office/drawing/2014/main" id="{D6320AF9-619A-4175-865B-5663E1AEF4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063B6EC6-D752-4EE7-908B-F8F19E8C7FE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953376"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EFECD4E8-AD3E-4228-82A2-9461958EA94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2133042"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cxnSp>
      <p:sp>
        <p:nvSpPr>
          <p:cNvPr id="27" name="Rectangle 23">
            <a:extLst>
              <a:ext uri="{FF2B5EF4-FFF2-40B4-BE49-F238E27FC236}">
                <a16:creationId xmlns:a16="http://schemas.microsoft.com/office/drawing/2014/main" id="{7E018740-5C2B-4A41-AC1A-7E68D1EC1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24631"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8" name="Rectangle 25">
            <a:extLst>
              <a:ext uri="{FF2B5EF4-FFF2-40B4-BE49-F238E27FC236}">
                <a16:creationId xmlns:a16="http://schemas.microsoft.com/office/drawing/2014/main" id="{166F75A4-C475-4941-8EE2-B80A06A2C1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46597"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9" name="Isosceles Triangle 28">
            <a:extLst>
              <a:ext uri="{FF2B5EF4-FFF2-40B4-BE49-F238E27FC236}">
                <a16:creationId xmlns:a16="http://schemas.microsoft.com/office/drawing/2014/main" id="{A032553A-72E8-4B0D-8405-FF9771C9AF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75488"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0" name="Rectangle 27">
            <a:extLst>
              <a:ext uri="{FF2B5EF4-FFF2-40B4-BE49-F238E27FC236}">
                <a16:creationId xmlns:a16="http://schemas.microsoft.com/office/drawing/2014/main" id="{765800AC-C3B9-498E-87BC-29FAE4C76B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77655"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Isosceles Triangle 23">
            <a:extLst>
              <a:ext uri="{FF2B5EF4-FFF2-40B4-BE49-F238E27FC236}">
                <a16:creationId xmlns:a16="http://schemas.microsoft.com/office/drawing/2014/main" id="{1F9D6ACB-2FF4-49F9-978A-E0D5327FC6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14821"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 name="Title 1">
            <a:extLst>
              <a:ext uri="{FF2B5EF4-FFF2-40B4-BE49-F238E27FC236}">
                <a16:creationId xmlns:a16="http://schemas.microsoft.com/office/drawing/2014/main" id="{B1E7B583-91E2-D1FC-49EC-60B106E12F00}"/>
              </a:ext>
            </a:extLst>
          </p:cNvPr>
          <p:cNvSpPr>
            <a:spLocks noGrp="1"/>
          </p:cNvSpPr>
          <p:nvPr>
            <p:ph type="title"/>
          </p:nvPr>
        </p:nvSpPr>
        <p:spPr>
          <a:xfrm>
            <a:off x="677334" y="609600"/>
            <a:ext cx="3843375" cy="5175624"/>
          </a:xfrm>
        </p:spPr>
        <p:txBody>
          <a:bodyPr anchor="ctr">
            <a:normAutofit/>
          </a:bodyPr>
          <a:lstStyle/>
          <a:p>
            <a:r>
              <a:rPr lang="en-US">
                <a:solidFill>
                  <a:schemeClr val="tx1">
                    <a:lumMod val="85000"/>
                    <a:lumOff val="15000"/>
                  </a:schemeClr>
                </a:solidFill>
                <a:latin typeface="Times New Roman" panose="02020603050405020304" pitchFamily="18" charset="0"/>
                <a:cs typeface="Times New Roman" panose="02020603050405020304" pitchFamily="18" charset="0"/>
              </a:rPr>
              <a:t>Conclusion</a:t>
            </a:r>
            <a:endParaRPr lang="en-IN">
              <a:solidFill>
                <a:schemeClr val="tx1">
                  <a:lumMod val="85000"/>
                  <a:lumOff val="15000"/>
                </a:schemeClr>
              </a:solidFill>
              <a:latin typeface="Times New Roman" panose="02020603050405020304" pitchFamily="18" charset="0"/>
              <a:cs typeface="Times New Roman" panose="02020603050405020304" pitchFamily="18" charset="0"/>
            </a:endParaRPr>
          </a:p>
        </p:txBody>
      </p:sp>
      <p:sp>
        <p:nvSpPr>
          <p:cNvPr id="26" name="Freeform: Shape 25">
            <a:extLst>
              <a:ext uri="{FF2B5EF4-FFF2-40B4-BE49-F238E27FC236}">
                <a16:creationId xmlns:a16="http://schemas.microsoft.com/office/drawing/2014/main" id="{142BFA2A-77A0-4F60-A32A-685681C848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82154" y="-8467"/>
            <a:ext cx="7109846" cy="6866467"/>
          </a:xfrm>
          <a:custGeom>
            <a:avLst/>
            <a:gdLst>
              <a:gd name="connsiteX0" fmla="*/ 0 w 7109846"/>
              <a:gd name="connsiteY0" fmla="*/ 0 h 6866467"/>
              <a:gd name="connsiteX1" fmla="*/ 1249825 w 7109846"/>
              <a:gd name="connsiteY1" fmla="*/ 0 h 6866467"/>
              <a:gd name="connsiteX2" fmla="*/ 1249825 w 7109846"/>
              <a:gd name="connsiteY2" fmla="*/ 8467 h 6866467"/>
              <a:gd name="connsiteX3" fmla="*/ 7109846 w 7109846"/>
              <a:gd name="connsiteY3" fmla="*/ 8467 h 6866467"/>
              <a:gd name="connsiteX4" fmla="*/ 7109846 w 7109846"/>
              <a:gd name="connsiteY4" fmla="*/ 6866467 h 6866467"/>
              <a:gd name="connsiteX5" fmla="*/ 1249825 w 7109846"/>
              <a:gd name="connsiteY5" fmla="*/ 6866467 h 6866467"/>
              <a:gd name="connsiteX6" fmla="*/ 1109382 w 7109846"/>
              <a:gd name="connsiteY6" fmla="*/ 6866467 h 6866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109846" h="6866467">
                <a:moveTo>
                  <a:pt x="0" y="0"/>
                </a:moveTo>
                <a:lnTo>
                  <a:pt x="1249825" y="0"/>
                </a:lnTo>
                <a:lnTo>
                  <a:pt x="1249825" y="8467"/>
                </a:lnTo>
                <a:lnTo>
                  <a:pt x="7109846" y="8467"/>
                </a:lnTo>
                <a:lnTo>
                  <a:pt x="7109846" y="6866467"/>
                </a:lnTo>
                <a:lnTo>
                  <a:pt x="1249825" y="6866467"/>
                </a:lnTo>
                <a:lnTo>
                  <a:pt x="1109382" y="6866467"/>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Content Placeholder 2">
            <a:extLst>
              <a:ext uri="{FF2B5EF4-FFF2-40B4-BE49-F238E27FC236}">
                <a16:creationId xmlns:a16="http://schemas.microsoft.com/office/drawing/2014/main" id="{8DEC03CA-34EB-2FFF-46E0-18A08A4813E7}"/>
              </a:ext>
            </a:extLst>
          </p:cNvPr>
          <p:cNvSpPr>
            <a:spLocks noGrp="1"/>
          </p:cNvSpPr>
          <p:nvPr>
            <p:ph idx="1"/>
          </p:nvPr>
        </p:nvSpPr>
        <p:spPr>
          <a:xfrm>
            <a:off x="6116084" y="609601"/>
            <a:ext cx="5511296" cy="5175624"/>
          </a:xfrm>
        </p:spPr>
        <p:txBody>
          <a:bodyPr anchor="ctr">
            <a:normAutofit/>
          </a:bodyPr>
          <a:lstStyle/>
          <a:p>
            <a:r>
              <a:rPr lang="en-IN" kern="100">
                <a:solidFill>
                  <a:srgbClr val="FFFFFF"/>
                </a:solidFill>
                <a:effectLst/>
                <a:latin typeface="Times New Roman" panose="02020603050405020304" pitchFamily="18" charset="0"/>
                <a:ea typeface="Calibri" panose="020F0502020204030204" pitchFamily="34" charset="0"/>
                <a:cs typeface="Times New Roman" panose="02020603050405020304" pitchFamily="18" charset="0"/>
              </a:rPr>
              <a:t>This project has shown that it is feasible to utilize machine learning models, namely MLP Neural Networks and Logistic Regression, to forecast PM2.5 AQI levels for one area in Los Angeles County based on historical weather and pollution data.</a:t>
            </a:r>
          </a:p>
          <a:p>
            <a:pPr marL="0" indent="0">
              <a:buNone/>
            </a:pPr>
            <a:endParaRPr lang="en-IN" kern="100">
              <a:solidFill>
                <a:srgbClr val="FFFFFF"/>
              </a:solidFill>
              <a:effectLst/>
              <a:latin typeface="Times New Roman" panose="02020603050405020304" pitchFamily="18" charset="0"/>
              <a:ea typeface="Calibri" panose="020F0502020204030204" pitchFamily="34" charset="0"/>
              <a:cs typeface="Times New Roman" panose="02020603050405020304" pitchFamily="18" charset="0"/>
            </a:endParaRPr>
          </a:p>
          <a:p>
            <a:r>
              <a:rPr lang="en-IN" kern="100">
                <a:solidFill>
                  <a:srgbClr val="FFFFFF"/>
                </a:solidFill>
                <a:effectLst/>
                <a:latin typeface="Times New Roman" panose="02020603050405020304" pitchFamily="18" charset="0"/>
                <a:ea typeface="Calibri" panose="020F0502020204030204" pitchFamily="34" charset="0"/>
                <a:cs typeface="Times New Roman" panose="02020603050405020304" pitchFamily="18" charset="0"/>
              </a:rPr>
              <a:t> The addition of lagged PM2.5 terms, meteorological variables, and designed interactions significantly enhanced model performance.</a:t>
            </a:r>
          </a:p>
          <a:p>
            <a:pPr marL="0" indent="0">
              <a:buNone/>
            </a:pPr>
            <a:endParaRPr lang="en-IN" kern="100">
              <a:solidFill>
                <a:srgbClr val="FFFFFF"/>
              </a:solidFill>
              <a:effectLst/>
              <a:latin typeface="Times New Roman" panose="02020603050405020304" pitchFamily="18" charset="0"/>
              <a:ea typeface="Calibri" panose="020F0502020204030204" pitchFamily="34" charset="0"/>
              <a:cs typeface="Times New Roman" panose="02020603050405020304" pitchFamily="18" charset="0"/>
            </a:endParaRPr>
          </a:p>
          <a:p>
            <a:r>
              <a:rPr lang="en-IN" kern="100">
                <a:solidFill>
                  <a:srgbClr val="FFFFFF"/>
                </a:solidFill>
                <a:effectLst/>
                <a:latin typeface="Times New Roman" panose="02020603050405020304" pitchFamily="18" charset="0"/>
                <a:ea typeface="Calibri" panose="020F0502020204030204" pitchFamily="34" charset="0"/>
                <a:cs typeface="Times New Roman" panose="02020603050405020304" pitchFamily="18" charset="0"/>
              </a:rPr>
              <a:t> This approach may be expanded to include real-time air quality forecasting, early public health alerts, and environmental policymaking.</a:t>
            </a:r>
          </a:p>
          <a:p>
            <a:endParaRPr lang="en-IN">
              <a:solidFill>
                <a:srgbClr val="FFFFFF"/>
              </a:solidFill>
            </a:endParaRPr>
          </a:p>
        </p:txBody>
      </p:sp>
    </p:spTree>
    <p:extLst>
      <p:ext uri="{BB962C8B-B14F-4D97-AF65-F5344CB8AC3E}">
        <p14:creationId xmlns:p14="http://schemas.microsoft.com/office/powerpoint/2010/main" val="855968052"/>
      </p:ext>
    </p:extLst>
  </p:cSld>
  <p:clrMapOvr>
    <a:overrideClrMapping bg1="dk1" tx1="lt1" bg2="dk2" tx2="lt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54BF9A-0755-5B8B-6E7F-C06731238396}"/>
              </a:ext>
            </a:extLst>
          </p:cNvPr>
          <p:cNvSpPr>
            <a:spLocks noGrp="1"/>
          </p:cNvSpPr>
          <p:nvPr>
            <p:ph type="title"/>
          </p:nvPr>
        </p:nvSpPr>
        <p:spPr>
          <a:xfrm>
            <a:off x="5536734" y="609600"/>
            <a:ext cx="3737268" cy="1320800"/>
          </a:xfrm>
        </p:spPr>
        <p:txBody>
          <a:bodyPr>
            <a:normAutofit/>
          </a:bodyPr>
          <a:lstStyle/>
          <a:p>
            <a:r>
              <a:rPr lang="en-IN" dirty="0">
                <a:latin typeface="Times New Roman" panose="02020603050405020304" pitchFamily="18" charset="0"/>
                <a:cs typeface="Times New Roman" panose="02020603050405020304" pitchFamily="18" charset="0"/>
              </a:rPr>
              <a:t>Q&amp;A Session</a:t>
            </a:r>
          </a:p>
        </p:txBody>
      </p:sp>
      <p:sp>
        <p:nvSpPr>
          <p:cNvPr id="3" name="Content Placeholder 2">
            <a:extLst>
              <a:ext uri="{FF2B5EF4-FFF2-40B4-BE49-F238E27FC236}">
                <a16:creationId xmlns:a16="http://schemas.microsoft.com/office/drawing/2014/main" id="{4022C654-0FF6-7BB1-4F16-81C7ABD5411A}"/>
              </a:ext>
            </a:extLst>
          </p:cNvPr>
          <p:cNvSpPr>
            <a:spLocks noGrp="1"/>
          </p:cNvSpPr>
          <p:nvPr>
            <p:ph idx="1"/>
          </p:nvPr>
        </p:nvSpPr>
        <p:spPr>
          <a:xfrm>
            <a:off x="5209563" y="2160589"/>
            <a:ext cx="4064439" cy="3880773"/>
          </a:xfrm>
        </p:spPr>
        <p:txBody>
          <a:bodyPr>
            <a:normAutofit/>
          </a:bodyPr>
          <a:lstStyle/>
          <a:p>
            <a:pPr marL="0" indent="0">
              <a:buNone/>
            </a:pPr>
            <a:endParaRPr lang="en-IN">
              <a:latin typeface="Times New Roman" panose="02020603050405020304" pitchFamily="18" charset="0"/>
              <a:cs typeface="Times New Roman" panose="02020603050405020304" pitchFamily="18" charset="0"/>
            </a:endParaRPr>
          </a:p>
          <a:p>
            <a:pPr marL="0" indent="0">
              <a:buNone/>
            </a:pPr>
            <a:endParaRPr lang="en-IN">
              <a:latin typeface="Times New Roman" panose="02020603050405020304" pitchFamily="18" charset="0"/>
              <a:cs typeface="Times New Roman" panose="02020603050405020304" pitchFamily="18" charset="0"/>
            </a:endParaRPr>
          </a:p>
          <a:p>
            <a:pPr marL="0" indent="0">
              <a:buNone/>
            </a:pPr>
            <a:r>
              <a:rPr lang="en-IN">
                <a:latin typeface="Times New Roman" panose="02020603050405020304" pitchFamily="18" charset="0"/>
                <a:cs typeface="Times New Roman" panose="02020603050405020304" pitchFamily="18" charset="0"/>
              </a:rPr>
              <a:t>Question &amp; Answers Session</a:t>
            </a:r>
          </a:p>
        </p:txBody>
      </p:sp>
      <p:pic>
        <p:nvPicPr>
          <p:cNvPr id="5" name="Picture 4" descr="Different colored question marks">
            <a:extLst>
              <a:ext uri="{FF2B5EF4-FFF2-40B4-BE49-F238E27FC236}">
                <a16:creationId xmlns:a16="http://schemas.microsoft.com/office/drawing/2014/main" id="{4206951F-D318-5631-E953-9130DDC79825}"/>
              </a:ext>
            </a:extLst>
          </p:cNvPr>
          <p:cNvPicPr>
            <a:picLocks noChangeAspect="1"/>
          </p:cNvPicPr>
          <p:nvPr/>
        </p:nvPicPr>
        <p:blipFill>
          <a:blip r:embed="rId2"/>
          <a:srcRect l="26182" r="29568"/>
          <a:stretch/>
        </p:blipFill>
        <p:spPr>
          <a:xfrm>
            <a:off x="20" y="-1"/>
            <a:ext cx="5394940" cy="6858001"/>
          </a:xfrm>
          <a:custGeom>
            <a:avLst/>
            <a:gdLst/>
            <a:ahLst/>
            <a:cxnLst/>
            <a:rect l="l" t="t" r="r" b="b"/>
            <a:pathLst>
              <a:path w="5394960" h="6858000">
                <a:moveTo>
                  <a:pt x="842596" y="0"/>
                </a:moveTo>
                <a:lnTo>
                  <a:pt x="5394960" y="0"/>
                </a:lnTo>
                <a:lnTo>
                  <a:pt x="5394960" y="21851"/>
                </a:lnTo>
                <a:lnTo>
                  <a:pt x="4365943" y="6858000"/>
                </a:lnTo>
                <a:lnTo>
                  <a:pt x="0" y="6858000"/>
                </a:lnTo>
                <a:lnTo>
                  <a:pt x="0" y="5666154"/>
                </a:lnTo>
                <a:close/>
              </a:path>
            </a:pathLst>
          </a:custGeom>
        </p:spPr>
      </p:pic>
      <p:sp>
        <p:nvSpPr>
          <p:cNvPr id="9" name="Isosceles Triangle 8">
            <a:extLst>
              <a:ext uri="{FF2B5EF4-FFF2-40B4-BE49-F238E27FC236}">
                <a16:creationId xmlns:a16="http://schemas.microsoft.com/office/drawing/2014/main" id="{3BCB5F6A-9EB0-40B0-9D13-3023E9A205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Tree>
    <p:extLst>
      <p:ext uri="{BB962C8B-B14F-4D97-AF65-F5344CB8AC3E}">
        <p14:creationId xmlns:p14="http://schemas.microsoft.com/office/powerpoint/2010/main" val="1246050265"/>
      </p:ext>
    </p:extLst>
  </p:cSld>
  <p:clrMapOvr>
    <a:overrideClrMapping bg1="dk1" tx1="lt1" bg2="dk2" tx2="lt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991555D-12AF-361C-A698-FEE1065B5ACC}"/>
              </a:ext>
            </a:extLst>
          </p:cNvPr>
          <p:cNvSpPr>
            <a:spLocks noGrp="1"/>
          </p:cNvSpPr>
          <p:nvPr>
            <p:ph idx="1"/>
          </p:nvPr>
        </p:nvSpPr>
        <p:spPr>
          <a:xfrm>
            <a:off x="5209563" y="2160589"/>
            <a:ext cx="4064439" cy="3880773"/>
          </a:xfrm>
        </p:spPr>
        <p:txBody>
          <a:bodyPr>
            <a:normAutofit/>
          </a:bodyPr>
          <a:lstStyle/>
          <a:p>
            <a:pPr marL="0" indent="0" algn="ctr">
              <a:buNone/>
            </a:pPr>
            <a:endParaRPr lang="en-IN" sz="2800" dirty="0">
              <a:latin typeface="Times New Roman" panose="02020603050405020304" pitchFamily="18" charset="0"/>
              <a:cs typeface="Times New Roman" panose="02020603050405020304" pitchFamily="18" charset="0"/>
            </a:endParaRPr>
          </a:p>
          <a:p>
            <a:pPr marL="0" indent="0" algn="ctr">
              <a:buNone/>
            </a:pPr>
            <a:endParaRPr lang="en-IN" sz="2800" dirty="0">
              <a:latin typeface="Times New Roman" panose="02020603050405020304" pitchFamily="18" charset="0"/>
              <a:cs typeface="Times New Roman" panose="02020603050405020304" pitchFamily="18" charset="0"/>
            </a:endParaRPr>
          </a:p>
          <a:p>
            <a:pPr marL="0" indent="0" algn="ctr">
              <a:buNone/>
            </a:pPr>
            <a:r>
              <a:rPr lang="en-IN" sz="2800" dirty="0">
                <a:latin typeface="Times New Roman" panose="02020603050405020304" pitchFamily="18" charset="0"/>
                <a:cs typeface="Times New Roman" panose="02020603050405020304" pitchFamily="18" charset="0"/>
              </a:rPr>
              <a:t>Thank you</a:t>
            </a:r>
          </a:p>
        </p:txBody>
      </p:sp>
      <p:pic>
        <p:nvPicPr>
          <p:cNvPr id="5" name="Picture 4" descr="Aerial view of a highway near the ocean">
            <a:extLst>
              <a:ext uri="{FF2B5EF4-FFF2-40B4-BE49-F238E27FC236}">
                <a16:creationId xmlns:a16="http://schemas.microsoft.com/office/drawing/2014/main" id="{E2DA71AF-1FD0-A9F0-F037-8226DA861ADA}"/>
              </a:ext>
            </a:extLst>
          </p:cNvPr>
          <p:cNvPicPr>
            <a:picLocks noChangeAspect="1"/>
          </p:cNvPicPr>
          <p:nvPr/>
        </p:nvPicPr>
        <p:blipFill>
          <a:blip r:embed="rId2"/>
          <a:srcRect l="24048" r="16952"/>
          <a:stretch/>
        </p:blipFill>
        <p:spPr>
          <a:xfrm>
            <a:off x="20" y="-1"/>
            <a:ext cx="5394940" cy="6858001"/>
          </a:xfrm>
          <a:custGeom>
            <a:avLst/>
            <a:gdLst/>
            <a:ahLst/>
            <a:cxnLst/>
            <a:rect l="l" t="t" r="r" b="b"/>
            <a:pathLst>
              <a:path w="5394960" h="6858000">
                <a:moveTo>
                  <a:pt x="842596" y="0"/>
                </a:moveTo>
                <a:lnTo>
                  <a:pt x="5394960" y="0"/>
                </a:lnTo>
                <a:lnTo>
                  <a:pt x="5394960" y="21851"/>
                </a:lnTo>
                <a:lnTo>
                  <a:pt x="4365943" y="6858000"/>
                </a:lnTo>
                <a:lnTo>
                  <a:pt x="0" y="6858000"/>
                </a:lnTo>
                <a:lnTo>
                  <a:pt x="0" y="5666154"/>
                </a:lnTo>
                <a:close/>
              </a:path>
            </a:pathLst>
          </a:custGeom>
        </p:spPr>
      </p:pic>
      <p:sp>
        <p:nvSpPr>
          <p:cNvPr id="11" name="Isosceles Triangle 10">
            <a:extLst>
              <a:ext uri="{FF2B5EF4-FFF2-40B4-BE49-F238E27FC236}">
                <a16:creationId xmlns:a16="http://schemas.microsoft.com/office/drawing/2014/main" id="{3BCB5F6A-9EB0-40B0-9D13-3023E9A205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Tree>
    <p:extLst>
      <p:ext uri="{BB962C8B-B14F-4D97-AF65-F5344CB8AC3E}">
        <p14:creationId xmlns:p14="http://schemas.microsoft.com/office/powerpoint/2010/main" val="3593843292"/>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0D098B9-EC42-4BC8-98D0-2DAFE0F5F1FA}">
  <we:reference id="wa104380518" version="3.7.0.0" store="en-US" storeType="OMEX"/>
  <we:alternateReferences>
    <we:reference id="WA104380518" version="3.7.0.0" store="WA104380518"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Facet</Template>
  <TotalTime>1735</TotalTime>
  <Words>1027</Words>
  <Application>Microsoft Office PowerPoint</Application>
  <PresentationFormat>Widescreen</PresentationFormat>
  <Paragraphs>144</Paragraphs>
  <Slides>13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Times New Roman</vt:lpstr>
      <vt:lpstr>Trebuchet MS</vt:lpstr>
      <vt:lpstr>Wingdings 3</vt:lpstr>
      <vt:lpstr>Facet</vt:lpstr>
      <vt:lpstr>Predicting Air Quality Levels using PM2.5 and weather Data</vt:lpstr>
      <vt:lpstr>Problem Statement</vt:lpstr>
      <vt:lpstr>Business Understanding</vt:lpstr>
      <vt:lpstr>Introduction</vt:lpstr>
      <vt:lpstr>Project Architecture</vt:lpstr>
      <vt:lpstr>Datasets Information</vt:lpstr>
      <vt:lpstr>PowerPoint Presentation</vt:lpstr>
      <vt:lpstr>Data Preparation</vt:lpstr>
      <vt:lpstr>Visualizations</vt:lpstr>
      <vt:lpstr>Algorithms</vt:lpstr>
      <vt:lpstr>Conclusion</vt:lpstr>
      <vt:lpstr>Q&amp;A Session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Tirumala Teja Yegineni</dc:creator>
  <cp:lastModifiedBy>Tirumala Teja Yegineni</cp:lastModifiedBy>
  <cp:revision>42</cp:revision>
  <dcterms:created xsi:type="dcterms:W3CDTF">2025-04-24T14:55:32Z</dcterms:created>
  <dcterms:modified xsi:type="dcterms:W3CDTF">2025-04-28T17:48:08Z</dcterms:modified>
</cp:coreProperties>
</file>